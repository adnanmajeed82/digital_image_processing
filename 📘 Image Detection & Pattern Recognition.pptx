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79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2E108-A061-581F-BFE5-9FE88AD3CB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2F0A87-8660-BE7A-BD21-E3BA78DA24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6A7F6-4546-2E6C-0519-81716E819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46C8-2A8D-4E88-819E-3E253EF6171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BF74D-0551-4D9E-F8C2-3A2EE520D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D140F-D611-D342-EFC8-35F01FCD2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20092-7D4A-472C-B0AA-7AF69E2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609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C414C-54E2-AC86-DB3F-2A14B98D5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4C211-4095-64BF-39BA-D9C34235F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124C1-7BB3-4270-F930-0511F18FA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46C8-2A8D-4E88-819E-3E253EF6171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7D139-99BF-5869-2204-86FC45485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2D5D2-6A25-51D5-86C5-EF900C69C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20092-7D4A-472C-B0AA-7AF69E2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309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D0CCC-329B-8CDE-7CA9-CBD439D5E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511BD6-85CB-CC45-4C80-E72CE0118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C5D35-33C8-77BE-9C6A-4A3C4CD8D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46C8-2A8D-4E88-819E-3E253EF6171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5300C-304E-06E7-1CE9-8E7EC8D3F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5396C-D265-1FAE-5A6B-25B248B26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20092-7D4A-472C-B0AA-7AF69E2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6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F8E42-FB99-ED03-316F-FC5F29C25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AC618-8C5E-D70D-2572-693C21B550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8AD471-DFEE-CC07-F4C8-4C2A20824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E453F-951E-0C30-DE73-ADEFCEFC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46C8-2A8D-4E88-819E-3E253EF6171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56488-7024-4634-7C86-CE1968313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75A23-6DF2-6A43-E063-9ACECBF6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20092-7D4A-472C-B0AA-7AF69E2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51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E2037-3A8E-7915-6EDB-78428B7AD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7B53F-B46D-7FAC-E078-923E98C48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9C3DE4-7AE4-6D6A-1786-69DA0F90F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324F2E-CDEC-4BA2-E73B-C0866EBC9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1C98B9-151D-5B7A-1C97-E5B84D052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00276F-8836-1583-95A5-B69F83549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46C8-2A8D-4E88-819E-3E253EF6171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63AFAA-3AE7-B2C6-273F-92DCBD04F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879054-F29D-456B-44CA-0113BBE3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20092-7D4A-472C-B0AA-7AF69E2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462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644B-4F0F-C4BE-58DD-66A1904C3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C529C7-1111-D9BA-FECD-1808AE701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46C8-2A8D-4E88-819E-3E253EF6171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45DEF-0DDD-8390-2B5A-7BAE8C4D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57331-01F1-F850-A4E3-320BE96C3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20092-7D4A-472C-B0AA-7AF69E2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3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AB30BA-A966-8E7E-B581-2074C4D4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46C8-2A8D-4E88-819E-3E253EF6171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8EBEBF-12EC-5E4B-31BC-51AF4EB8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76A5F-5E68-D67C-F5FB-028839E5F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20092-7D4A-472C-B0AA-7AF69E2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245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C76F-EFBB-5570-F4F7-544223C3D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D693C-59C8-722B-14D7-D3DC91DEA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A48D7-8EE2-CB31-064D-1BEC42A4C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06A16-64BE-FC9A-F6CE-414A7DA0B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46C8-2A8D-4E88-819E-3E253EF6171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58AED-8348-E937-B6DA-C48B03B12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39412-F133-7DB6-CE3D-E51D2D400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20092-7D4A-472C-B0AA-7AF69E2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66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2F5A7-9A16-130F-671F-1EFEBF3B0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2826BF-7C42-04E3-0DC5-6A1C8CC3FF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DB6A42-2447-3337-797A-8730F5D3C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9ACCF-AEED-13CD-430A-86D1ABA53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46C8-2A8D-4E88-819E-3E253EF6171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64D42-67E2-E432-5A4D-EF61AC0BA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E2853-2EF7-B230-E9AE-CD6C75F91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20092-7D4A-472C-B0AA-7AF69E2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326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4D489-1E78-3E90-1FCD-C5751E215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1F0FB5-6F2B-3E11-9B27-D8970723B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A1DA0-5215-9078-045F-8B9203F15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46C8-2A8D-4E88-819E-3E253EF6171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137A3-AD29-BE88-83DD-D97CD0FE3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3502E-8244-0BCF-B105-537BA3285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20092-7D4A-472C-B0AA-7AF69E2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56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4D9595-4A84-31A9-DE04-0A4FAF333B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433D23-B16F-834A-0163-64782236A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4E36B-D994-AB12-0A59-6D794A6C4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46C8-2A8D-4E88-819E-3E253EF6171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926F0-45A3-D814-8BAF-1B2AF0B46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82CF0-1EF3-08DD-805E-3E85C89A9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20092-7D4A-472C-B0AA-7AF69E2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92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259DA0-46FC-E33D-9E20-9D187C955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07E17-52FD-14F0-B8F4-D5F9BAFC4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E1194-7EAB-A933-60A9-7D59F23B6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146C8-2A8D-4E88-819E-3E253EF61718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7157B-8328-714E-0097-5FC1E43AD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62952-610F-062A-EE75-090908C87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20092-7D4A-472C-B0AA-7AF69E281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858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4E2E5-BE50-B692-B46B-DD43D2D64F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📘 Image Detection &amp; Pattern Recognition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FB734-6335-DFC4-ECB1-4BF17874A9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</a:t>
            </a:r>
          </a:p>
          <a:p>
            <a:r>
              <a:rPr lang="en-US" dirty="0"/>
              <a:t>Adnan Majeed</a:t>
            </a:r>
          </a:p>
          <a:p>
            <a:r>
              <a:rPr lang="en-US" dirty="0"/>
              <a:t>Data Scientist , Researcher </a:t>
            </a:r>
          </a:p>
        </p:txBody>
      </p:sp>
    </p:spTree>
    <p:extLst>
      <p:ext uri="{BB962C8B-B14F-4D97-AF65-F5344CB8AC3E}">
        <p14:creationId xmlns:p14="http://schemas.microsoft.com/office/powerpoint/2010/main" val="3044068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F3927-F90C-31C8-792B-E1CAEBA57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39FDE-4F96-7064-58EE-FBE2B4CFD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Introduction</a:t>
            </a:r>
          </a:p>
          <a:p>
            <a:r>
              <a:rPr lang="en-US" dirty="0"/>
              <a:t>Image detection and pattern recognition are core areas of digital image processing that focus on </a:t>
            </a:r>
            <a:r>
              <a:rPr lang="en-US" b="1" dirty="0"/>
              <a:t>identifying objects, features, or patterns</a:t>
            </a:r>
            <a:r>
              <a:rPr lang="en-US" dirty="0"/>
              <a:t> within digital images. These techniques are widely used in </a:t>
            </a:r>
            <a:r>
              <a:rPr lang="en-US" b="1" dirty="0"/>
              <a:t>medical imaging, surveillance, biometrics, remote sensing, and AI-based vision systems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913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51056-A4B2-B7B2-DD37-CB684EC8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B169A-F5CB-CF92-19D8-6F8838D11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Image Detection</a:t>
            </a:r>
          </a:p>
          <a:p>
            <a:r>
              <a:rPr lang="en-US" dirty="0"/>
              <a:t>Image detection refers to the process of </a:t>
            </a:r>
            <a:r>
              <a:rPr lang="en-US" b="1" dirty="0"/>
              <a:t>locating meaningful structures or objects</a:t>
            </a:r>
            <a:r>
              <a:rPr lang="en-US" dirty="0"/>
              <a:t> in an image.</a:t>
            </a:r>
          </a:p>
          <a:p>
            <a:r>
              <a:rPr lang="en-US" b="1" dirty="0"/>
              <a:t>Objectives of Image Detection</a:t>
            </a:r>
          </a:p>
          <a:p>
            <a:r>
              <a:rPr lang="en-US" dirty="0"/>
              <a:t>Identify regions of interest (ROI)</a:t>
            </a:r>
          </a:p>
          <a:p>
            <a:r>
              <a:rPr lang="en-US" dirty="0"/>
              <a:t>Detect objects, edges, or shapes</a:t>
            </a:r>
          </a:p>
          <a:p>
            <a:r>
              <a:rPr lang="en-US" dirty="0"/>
              <a:t>Extract useful information from images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723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A9E02-496D-EC49-78C9-76474C129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E63DB-9237-834D-2DA3-FB4548D23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3. Types of Image Detection</a:t>
            </a:r>
          </a:p>
          <a:p>
            <a:r>
              <a:rPr lang="en-US" b="1" dirty="0"/>
              <a:t>3.1 Edge Detection</a:t>
            </a:r>
          </a:p>
          <a:p>
            <a:r>
              <a:rPr lang="en-US" dirty="0"/>
              <a:t>Edge detection identifies </a:t>
            </a:r>
            <a:r>
              <a:rPr lang="en-US" b="1" dirty="0"/>
              <a:t>boundaries</a:t>
            </a:r>
            <a:r>
              <a:rPr lang="en-US" dirty="0"/>
              <a:t> between objects.</a:t>
            </a:r>
          </a:p>
          <a:p>
            <a:r>
              <a:rPr lang="en-US" b="1" dirty="0"/>
              <a:t>Common Edge Detection Operators:</a:t>
            </a:r>
            <a:endParaRPr lang="en-US" dirty="0"/>
          </a:p>
          <a:p>
            <a:r>
              <a:rPr lang="en-US" dirty="0"/>
              <a:t>Sobel Operator</a:t>
            </a:r>
          </a:p>
          <a:p>
            <a:r>
              <a:rPr lang="en-US" dirty="0"/>
              <a:t>Prewitt Operator</a:t>
            </a:r>
          </a:p>
          <a:p>
            <a:r>
              <a:rPr lang="en-US" dirty="0"/>
              <a:t>Roberts Operator</a:t>
            </a:r>
          </a:p>
          <a:p>
            <a:r>
              <a:rPr lang="en-US" dirty="0"/>
              <a:t>Canny Edge Detector</a:t>
            </a:r>
          </a:p>
          <a:p>
            <a:r>
              <a:rPr lang="en-US" dirty="0"/>
              <a:t>📌 </a:t>
            </a:r>
            <a:r>
              <a:rPr lang="en-US" i="1" dirty="0"/>
              <a:t>Applications</a:t>
            </a:r>
            <a:r>
              <a:rPr lang="en-US" dirty="0"/>
              <a:t>: Object boundaries, medical imaging, lane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534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59633-4EBA-F787-E5A4-7303855BD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73F81-C53D-F6C9-72A7-34DF16A7E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3.2 Corner Detection</a:t>
            </a:r>
          </a:p>
          <a:p>
            <a:r>
              <a:rPr lang="en-US" dirty="0"/>
              <a:t>Detects </a:t>
            </a:r>
            <a:r>
              <a:rPr lang="en-US" b="1" dirty="0"/>
              <a:t>points of high curvature</a:t>
            </a:r>
            <a:r>
              <a:rPr lang="en-US" dirty="0"/>
              <a:t> in an image.</a:t>
            </a:r>
          </a:p>
          <a:p>
            <a:r>
              <a:rPr lang="en-US" b="1" dirty="0"/>
              <a:t>Algorithms:</a:t>
            </a:r>
            <a:endParaRPr lang="en-US" dirty="0"/>
          </a:p>
          <a:p>
            <a:r>
              <a:rPr lang="en-US" dirty="0"/>
              <a:t>Harris Corner Detector</a:t>
            </a:r>
          </a:p>
          <a:p>
            <a:r>
              <a:rPr lang="en-US" dirty="0"/>
              <a:t>Shi–Tomasi Detector</a:t>
            </a:r>
          </a:p>
          <a:p>
            <a:r>
              <a:rPr lang="en-US" dirty="0"/>
              <a:t>📌 </a:t>
            </a:r>
            <a:r>
              <a:rPr lang="en-US" i="1" dirty="0"/>
              <a:t>Applications</a:t>
            </a:r>
            <a:r>
              <a:rPr lang="en-US" dirty="0"/>
              <a:t>: Image matching, tracking, motion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07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34C8-57D4-1ACE-74C2-DE542D9A6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A1699-D255-922F-F596-9EEB9E958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3.3 Blob Detection</a:t>
            </a:r>
          </a:p>
          <a:p>
            <a:r>
              <a:rPr lang="en-US" dirty="0"/>
              <a:t>Detects </a:t>
            </a:r>
            <a:r>
              <a:rPr lang="en-US" b="1" dirty="0"/>
              <a:t>regions of similar intensity or color</a:t>
            </a:r>
            <a:r>
              <a:rPr lang="en-US" dirty="0"/>
              <a:t>.</a:t>
            </a:r>
          </a:p>
          <a:p>
            <a:r>
              <a:rPr lang="en-US" b="1" dirty="0"/>
              <a:t>Techniques:</a:t>
            </a:r>
            <a:endParaRPr lang="en-US" dirty="0"/>
          </a:p>
          <a:p>
            <a:r>
              <a:rPr lang="en-US" dirty="0"/>
              <a:t>Laplacian of Gaussian (</a:t>
            </a:r>
            <a:r>
              <a:rPr lang="en-US" dirty="0" err="1"/>
              <a:t>LoG</a:t>
            </a:r>
            <a:r>
              <a:rPr lang="en-US" dirty="0"/>
              <a:t>)</a:t>
            </a:r>
          </a:p>
          <a:p>
            <a:r>
              <a:rPr lang="en-US" dirty="0"/>
              <a:t>Difference of Gaussian (</a:t>
            </a:r>
            <a:r>
              <a:rPr lang="en-US" dirty="0" err="1"/>
              <a:t>DoG</a:t>
            </a:r>
            <a:r>
              <a:rPr lang="en-US" dirty="0"/>
              <a:t>)</a:t>
            </a:r>
          </a:p>
          <a:p>
            <a:r>
              <a:rPr lang="en-US" dirty="0"/>
              <a:t>📌 </a:t>
            </a:r>
            <a:r>
              <a:rPr lang="en-US" i="1" dirty="0"/>
              <a:t>Applications</a:t>
            </a:r>
            <a:r>
              <a:rPr lang="en-US" dirty="0"/>
              <a:t>: Cell detection, object counting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353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DE3A2-7A3D-48BA-5FAE-74773E06A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9ACB4-9364-9B80-80E1-AE220AE48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Feature Extraction</a:t>
            </a:r>
          </a:p>
          <a:p>
            <a:r>
              <a:rPr lang="en-US" dirty="0"/>
              <a:t>Feature extraction converts raw image data into </a:t>
            </a:r>
            <a:r>
              <a:rPr lang="en-US" b="1" dirty="0"/>
              <a:t>meaningful descriptors</a:t>
            </a:r>
            <a:r>
              <a:rPr lang="en-US" dirty="0"/>
              <a:t>.</a:t>
            </a:r>
          </a:p>
          <a:p>
            <a:r>
              <a:rPr lang="en-US" b="1" dirty="0"/>
              <a:t>Common Features</a:t>
            </a:r>
          </a:p>
          <a:p>
            <a:r>
              <a:rPr lang="en-US" dirty="0"/>
              <a:t>Shape features (area, perimeter)</a:t>
            </a:r>
          </a:p>
          <a:p>
            <a:r>
              <a:rPr lang="en-US" dirty="0"/>
              <a:t>Texture features (GLCM, LBP)</a:t>
            </a:r>
          </a:p>
          <a:p>
            <a:r>
              <a:rPr lang="en-US" dirty="0"/>
              <a:t>Color features (histograms)</a:t>
            </a:r>
          </a:p>
          <a:p>
            <a:r>
              <a:rPr lang="en-US" dirty="0"/>
              <a:t>📌 </a:t>
            </a:r>
            <a:r>
              <a:rPr lang="en-US" i="1" dirty="0"/>
              <a:t>Purpose</a:t>
            </a:r>
            <a:r>
              <a:rPr lang="en-US" dirty="0"/>
              <a:t>: Reduce dimensionality and improve recognition accuracy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504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8C81C-F477-C682-6196-7441C26BA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C164D-8E5B-FB21-AF06-794D09A21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5. Pattern Recognition</a:t>
            </a:r>
          </a:p>
          <a:p>
            <a:r>
              <a:rPr lang="en-US" dirty="0"/>
              <a:t>Pattern recognition involves </a:t>
            </a:r>
            <a:r>
              <a:rPr lang="en-US" b="1" dirty="0"/>
              <a:t>classifying detected features into meaningful categories</a:t>
            </a:r>
            <a:r>
              <a:rPr lang="en-US" dirty="0"/>
              <a:t>.</a:t>
            </a:r>
          </a:p>
          <a:p>
            <a:r>
              <a:rPr lang="en-US" b="1" dirty="0"/>
              <a:t>Steps in Pattern Recognition</a:t>
            </a:r>
          </a:p>
          <a:p>
            <a:r>
              <a:rPr lang="en-US" dirty="0"/>
              <a:t>Image acquisition</a:t>
            </a:r>
          </a:p>
          <a:p>
            <a:r>
              <a:rPr lang="en-US" dirty="0"/>
              <a:t>Preprocessing</a:t>
            </a:r>
          </a:p>
          <a:p>
            <a:r>
              <a:rPr lang="en-US" dirty="0"/>
              <a:t>Feature extraction</a:t>
            </a:r>
          </a:p>
          <a:p>
            <a:r>
              <a:rPr lang="en-US" dirty="0"/>
              <a:t>Classification</a:t>
            </a:r>
          </a:p>
          <a:p>
            <a:r>
              <a:rPr lang="en-US" dirty="0"/>
              <a:t>Decision making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978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2F7B-3E8A-587F-D085-E98EA2261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1DFA7-0C09-FB4B-C6C1-C20ADB9B4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 Types of Pattern Recognition</a:t>
            </a:r>
          </a:p>
          <a:p>
            <a:r>
              <a:rPr lang="en-US" b="1" dirty="0"/>
              <a:t>6.1 Statistical Pattern Recognition</a:t>
            </a:r>
          </a:p>
          <a:p>
            <a:r>
              <a:rPr lang="en-US" dirty="0"/>
              <a:t>Based on probability and statistics</a:t>
            </a:r>
          </a:p>
          <a:p>
            <a:r>
              <a:rPr lang="en-US" dirty="0"/>
              <a:t>Uses distance measures and classifiers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Bayesian Classifier</a:t>
            </a:r>
          </a:p>
          <a:p>
            <a:r>
              <a:rPr lang="en-US" dirty="0"/>
              <a:t>k-Nearest Neighbor (k-NN)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299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7BF6-9B5F-4AFA-FCD3-C0E7CF36A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8FCC8-8539-EBB1-E60C-FC778BFB9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6.2 Structural Pattern Recognition</a:t>
            </a:r>
          </a:p>
          <a:p>
            <a:r>
              <a:rPr lang="en-US" dirty="0"/>
              <a:t>Patterns represented by </a:t>
            </a:r>
            <a:r>
              <a:rPr lang="en-US" b="1" dirty="0"/>
              <a:t>symbols and relationships</a:t>
            </a:r>
            <a:endParaRPr lang="en-US" dirty="0"/>
          </a:p>
          <a:p>
            <a:r>
              <a:rPr lang="en-US" dirty="0"/>
              <a:t>Uses graphs and grammars</a:t>
            </a:r>
          </a:p>
          <a:p>
            <a:r>
              <a:rPr lang="en-US" dirty="0"/>
              <a:t>📌 </a:t>
            </a:r>
            <a:r>
              <a:rPr lang="en-US" i="1" dirty="0"/>
              <a:t>Example</a:t>
            </a:r>
            <a:r>
              <a:rPr lang="en-US" dirty="0"/>
              <a:t>: Character recognition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265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5532F-574B-B2F1-03AC-38DA0960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B7B61-28FC-BED8-BA7D-1A72C2FE3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6.3 Machine Learning-Based Recognition</a:t>
            </a:r>
          </a:p>
          <a:p>
            <a:r>
              <a:rPr lang="en-US" dirty="0"/>
              <a:t>Uses learning algorithms</a:t>
            </a:r>
          </a:p>
          <a:p>
            <a:r>
              <a:rPr lang="en-US" dirty="0"/>
              <a:t>High accuracy with large datasets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Support Vector Machines (SVM)</a:t>
            </a:r>
          </a:p>
          <a:p>
            <a:r>
              <a:rPr lang="en-US" dirty="0"/>
              <a:t>Neural Networks</a:t>
            </a:r>
          </a:p>
          <a:p>
            <a:r>
              <a:rPr lang="en-US" dirty="0"/>
              <a:t>Convolutional Neural Networks (CNN)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675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7C288-ADF9-2B4F-F1E7-22A71D5B9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0EACE-243F-6BC8-87E5-97C06F7D7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7. Image Classification</a:t>
            </a:r>
          </a:p>
          <a:p>
            <a:r>
              <a:rPr lang="en-US" dirty="0"/>
              <a:t>Image classification assigns an image or object to a </a:t>
            </a:r>
            <a:r>
              <a:rPr lang="en-US" b="1" dirty="0"/>
              <a:t>predefined class</a:t>
            </a:r>
            <a:r>
              <a:rPr lang="en-US" dirty="0"/>
              <a:t>.</a:t>
            </a:r>
          </a:p>
          <a:p>
            <a:r>
              <a:rPr lang="en-US" b="1" dirty="0"/>
              <a:t>Types</a:t>
            </a:r>
          </a:p>
          <a:p>
            <a:r>
              <a:rPr lang="en-US" dirty="0"/>
              <a:t>Supervised classification</a:t>
            </a:r>
          </a:p>
          <a:p>
            <a:r>
              <a:rPr lang="en-US" dirty="0"/>
              <a:t>Unsupervised classification</a:t>
            </a:r>
          </a:p>
          <a:p>
            <a:r>
              <a:rPr lang="en-US" dirty="0"/>
              <a:t>Deep learning-based classification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4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7DF52-1C70-C702-2F1B-01DEE6221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Object Detection vs Pattern Recognition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D78440-16E8-D464-1BA4-E59A5E22A42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2255653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2166458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959039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Image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Pattern Recognition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161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Locate objects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Identify/classify objects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970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Coordinates/regions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 labels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306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Face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Face recognition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702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835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5F5DD-2B46-52CE-55DD-52F79B7C8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4F1D1-FEF1-1FAF-7520-C0248425A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9. Applications</a:t>
            </a:r>
          </a:p>
          <a:p>
            <a:r>
              <a:rPr lang="en-US" dirty="0"/>
              <a:t>Face and fingerprint recognition</a:t>
            </a:r>
          </a:p>
          <a:p>
            <a:r>
              <a:rPr lang="en-US" dirty="0"/>
              <a:t>Medical diagnosis (tumor detection)</a:t>
            </a:r>
          </a:p>
          <a:p>
            <a:r>
              <a:rPr lang="en-US" dirty="0"/>
              <a:t>Traffic monitoring</a:t>
            </a:r>
          </a:p>
          <a:p>
            <a:r>
              <a:rPr lang="en-US" dirty="0"/>
              <a:t>Remote sensing</a:t>
            </a:r>
          </a:p>
          <a:p>
            <a:r>
              <a:rPr lang="en-US" dirty="0"/>
              <a:t>Industrial inspection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018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FB673-1689-BF81-287D-AAB3487AC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142BC-B3B9-B008-AF00-726560690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10. Challenges</a:t>
            </a:r>
          </a:p>
          <a:p>
            <a:r>
              <a:rPr lang="en-US" dirty="0"/>
              <a:t>Noise and illumination variation</a:t>
            </a:r>
          </a:p>
          <a:p>
            <a:r>
              <a:rPr lang="en-US" dirty="0"/>
              <a:t>Scale and rotation issues</a:t>
            </a:r>
          </a:p>
          <a:p>
            <a:r>
              <a:rPr lang="en-US" dirty="0"/>
              <a:t>Occlusion</a:t>
            </a:r>
          </a:p>
          <a:p>
            <a:r>
              <a:rPr lang="en-US" dirty="0"/>
              <a:t>Computational complexity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143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5F6EE-A210-6711-61D6-C2CECF573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6EBCB-E7EA-FDCE-9828-3108CA58F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11. Recent Trends</a:t>
            </a:r>
          </a:p>
          <a:p>
            <a:r>
              <a:rPr lang="en-US" dirty="0"/>
              <a:t>Deep learning-based detection</a:t>
            </a:r>
          </a:p>
          <a:p>
            <a:r>
              <a:rPr lang="en-US" dirty="0"/>
              <a:t>CNNs for object recognition</a:t>
            </a:r>
          </a:p>
          <a:p>
            <a:r>
              <a:rPr lang="en-US" dirty="0"/>
              <a:t>Real-time image processing</a:t>
            </a:r>
          </a:p>
          <a:p>
            <a:r>
              <a:rPr lang="en-US" dirty="0"/>
              <a:t>AI-driven medical imaging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12. Summary</a:t>
            </a:r>
          </a:p>
          <a:p>
            <a:r>
              <a:rPr lang="en-US" dirty="0"/>
              <a:t>Image detection focuses on </a:t>
            </a:r>
            <a:r>
              <a:rPr lang="en-US" b="1" dirty="0"/>
              <a:t>locating objects and features</a:t>
            </a:r>
            <a:r>
              <a:rPr lang="en-US" dirty="0"/>
              <a:t>, while pattern recognition emphasizes </a:t>
            </a:r>
            <a:r>
              <a:rPr lang="en-US" b="1" dirty="0"/>
              <a:t>classification and identification</a:t>
            </a:r>
            <a:r>
              <a:rPr lang="en-US" dirty="0"/>
              <a:t>. Together, they form the backbone of modern computer vision and intelligent image processing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035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E8F1-11E1-D8F0-CBEA-33029F2F4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B3B85-F978-D31D-D90A-684B45E48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📝 Exam-Oriented Questions</a:t>
            </a:r>
          </a:p>
          <a:p>
            <a:r>
              <a:rPr lang="en-US" dirty="0"/>
              <a:t>Define image detection and pattern recognition.</a:t>
            </a:r>
          </a:p>
          <a:p>
            <a:r>
              <a:rPr lang="en-US" dirty="0"/>
              <a:t>Explain edge detection techniques.</a:t>
            </a:r>
          </a:p>
          <a:p>
            <a:r>
              <a:rPr lang="en-US" dirty="0"/>
              <a:t>Differentiate image detection and image recognition.</a:t>
            </a:r>
          </a:p>
          <a:p>
            <a:r>
              <a:rPr lang="en-US" dirty="0"/>
              <a:t>Discuss applications of pattern recognition in medical imaging.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710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87A90-FBF3-AEED-CD25-9768DECCC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9EA67-5CF8-0CE3-3C7B-73747343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Suggested Lab Tasks</a:t>
            </a:r>
          </a:p>
          <a:p>
            <a:r>
              <a:rPr lang="en-US" dirty="0"/>
              <a:t>Implement </a:t>
            </a:r>
            <a:r>
              <a:rPr lang="en-US" b="1" dirty="0"/>
              <a:t>Sobel and Canny edge detection</a:t>
            </a:r>
            <a:endParaRPr lang="en-US" dirty="0"/>
          </a:p>
          <a:p>
            <a:r>
              <a:rPr lang="en-US" dirty="0"/>
              <a:t>Extract texture features using </a:t>
            </a:r>
            <a:r>
              <a:rPr lang="en-US" b="1" dirty="0"/>
              <a:t>GLCM</a:t>
            </a:r>
            <a:endParaRPr lang="en-US" dirty="0"/>
          </a:p>
          <a:p>
            <a:r>
              <a:rPr lang="en-US" dirty="0"/>
              <a:t>Classify images using </a:t>
            </a:r>
            <a:r>
              <a:rPr lang="en-US" b="1" dirty="0"/>
              <a:t>k-NN or SVM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060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005CA-5E4B-A750-5A98-965E1B45A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Image Loading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FA1EC-D849-961F-A237-EE20B2783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import cv2</a:t>
            </a:r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endParaRPr lang="en-US" dirty="0"/>
          </a:p>
          <a:p>
            <a:r>
              <a:rPr lang="en-US" dirty="0"/>
              <a:t># Load image (grayscale)</a:t>
            </a:r>
          </a:p>
          <a:p>
            <a:r>
              <a:rPr lang="en-US" dirty="0" err="1"/>
              <a:t>img</a:t>
            </a:r>
            <a:r>
              <a:rPr lang="en-US" dirty="0"/>
              <a:t> = cv2.imread("image.jpg", cv2.IMREAD_GRAYSCALE)</a:t>
            </a:r>
          </a:p>
          <a:p>
            <a:endParaRPr lang="en-US" dirty="0"/>
          </a:p>
          <a:p>
            <a:r>
              <a:rPr lang="en-US" dirty="0"/>
              <a:t># Resize for consistency</a:t>
            </a:r>
          </a:p>
          <a:p>
            <a:r>
              <a:rPr lang="en-US" dirty="0" err="1"/>
              <a:t>img</a:t>
            </a:r>
            <a:r>
              <a:rPr lang="en-US" dirty="0"/>
              <a:t> = cv2.resize(</a:t>
            </a:r>
            <a:r>
              <a:rPr lang="en-US" dirty="0" err="1"/>
              <a:t>img</a:t>
            </a:r>
            <a:r>
              <a:rPr lang="en-US" dirty="0"/>
              <a:t>, (256, 256))</a:t>
            </a:r>
          </a:p>
          <a:p>
            <a:endParaRPr lang="en-US" dirty="0"/>
          </a:p>
          <a:p>
            <a:r>
              <a:rPr lang="en-US" dirty="0"/>
              <a:t># Display image</a:t>
            </a:r>
          </a:p>
          <a:p>
            <a:r>
              <a:rPr lang="en-US" dirty="0" err="1"/>
              <a:t>plt.imshow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, </a:t>
            </a:r>
            <a:r>
              <a:rPr lang="en-US" dirty="0" err="1"/>
              <a:t>cmap</a:t>
            </a:r>
            <a:r>
              <a:rPr lang="en-US" dirty="0"/>
              <a:t>='gray')</a:t>
            </a:r>
          </a:p>
          <a:p>
            <a:r>
              <a:rPr lang="en-US" dirty="0" err="1"/>
              <a:t>plt.title</a:t>
            </a:r>
            <a:r>
              <a:rPr lang="en-US" dirty="0"/>
              <a:t>("Original Image")</a:t>
            </a:r>
          </a:p>
          <a:p>
            <a:r>
              <a:rPr lang="en-US" dirty="0" err="1"/>
              <a:t>plt.axis</a:t>
            </a:r>
            <a:r>
              <a:rPr lang="en-US" dirty="0"/>
              <a:t>('off')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182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5724B-51D8-CCD8-D2FB-71A5E2A3F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Edge Detection (Sobel &amp; Canny)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B887C-B02F-22F8-6F57-8246B29C4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sobel_x</a:t>
            </a:r>
            <a:r>
              <a:rPr lang="en-US" dirty="0"/>
              <a:t> = cv2.Sobel(</a:t>
            </a:r>
            <a:r>
              <a:rPr lang="en-US" dirty="0" err="1"/>
              <a:t>img</a:t>
            </a:r>
            <a:r>
              <a:rPr lang="en-US" dirty="0"/>
              <a:t>, cv2.CV_64F, 1, 0, </a:t>
            </a:r>
            <a:r>
              <a:rPr lang="en-US" dirty="0" err="1"/>
              <a:t>ksize</a:t>
            </a:r>
            <a:r>
              <a:rPr lang="en-US" dirty="0"/>
              <a:t>=3)</a:t>
            </a:r>
          </a:p>
          <a:p>
            <a:r>
              <a:rPr lang="en-US" dirty="0" err="1"/>
              <a:t>sobel_y</a:t>
            </a:r>
            <a:r>
              <a:rPr lang="en-US" dirty="0"/>
              <a:t> = cv2.Sobel(</a:t>
            </a:r>
            <a:r>
              <a:rPr lang="en-US" dirty="0" err="1"/>
              <a:t>img</a:t>
            </a:r>
            <a:r>
              <a:rPr lang="en-US" dirty="0"/>
              <a:t>, cv2.CV_64F, 0, 1, </a:t>
            </a:r>
            <a:r>
              <a:rPr lang="en-US" dirty="0" err="1"/>
              <a:t>ksize</a:t>
            </a:r>
            <a:r>
              <a:rPr lang="en-US" dirty="0"/>
              <a:t>=3)</a:t>
            </a:r>
          </a:p>
          <a:p>
            <a:r>
              <a:rPr lang="en-US" dirty="0" err="1"/>
              <a:t>sobel</a:t>
            </a:r>
            <a:r>
              <a:rPr lang="en-US" dirty="0"/>
              <a:t> = cv2.magnitude(</a:t>
            </a:r>
            <a:r>
              <a:rPr lang="en-US" dirty="0" err="1"/>
              <a:t>sobel_x</a:t>
            </a:r>
            <a:r>
              <a:rPr lang="en-US" dirty="0"/>
              <a:t>, </a:t>
            </a:r>
            <a:r>
              <a:rPr lang="en-US" dirty="0" err="1"/>
              <a:t>sobel_y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plt.imshow</a:t>
            </a:r>
            <a:r>
              <a:rPr lang="en-US" dirty="0"/>
              <a:t>(</a:t>
            </a:r>
            <a:r>
              <a:rPr lang="en-US" dirty="0" err="1"/>
              <a:t>sobel</a:t>
            </a:r>
            <a:r>
              <a:rPr lang="en-US" dirty="0"/>
              <a:t>, </a:t>
            </a:r>
            <a:r>
              <a:rPr lang="en-US" dirty="0" err="1"/>
              <a:t>cmap</a:t>
            </a:r>
            <a:r>
              <a:rPr lang="en-US" dirty="0"/>
              <a:t>='gray')</a:t>
            </a:r>
          </a:p>
          <a:p>
            <a:r>
              <a:rPr lang="en-US" dirty="0" err="1"/>
              <a:t>plt.title</a:t>
            </a:r>
            <a:r>
              <a:rPr lang="en-US" dirty="0"/>
              <a:t>("Sobel Edge Detection")</a:t>
            </a:r>
          </a:p>
          <a:p>
            <a:r>
              <a:rPr lang="en-US" dirty="0" err="1"/>
              <a:t>plt.axis</a:t>
            </a:r>
            <a:r>
              <a:rPr lang="en-US" dirty="0"/>
              <a:t>('off')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148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943E4-5133-A86F-0275-EC2B3F630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Canny Edge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3EA23-4BF0-1B72-D125-5877F118C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canny = cv2.Canny(</a:t>
            </a:r>
            <a:r>
              <a:rPr lang="en-US" dirty="0" err="1"/>
              <a:t>img</a:t>
            </a:r>
            <a:r>
              <a:rPr lang="en-US" dirty="0"/>
              <a:t>, 100, 200)</a:t>
            </a:r>
          </a:p>
          <a:p>
            <a:endParaRPr lang="en-US" dirty="0"/>
          </a:p>
          <a:p>
            <a:r>
              <a:rPr lang="en-US" dirty="0" err="1"/>
              <a:t>plt.imshow</a:t>
            </a:r>
            <a:r>
              <a:rPr lang="en-US" dirty="0"/>
              <a:t>(canny, </a:t>
            </a:r>
            <a:r>
              <a:rPr lang="en-US" dirty="0" err="1"/>
              <a:t>cmap</a:t>
            </a:r>
            <a:r>
              <a:rPr lang="en-US" dirty="0"/>
              <a:t>='gray')</a:t>
            </a:r>
          </a:p>
          <a:p>
            <a:r>
              <a:rPr lang="en-US" dirty="0" err="1"/>
              <a:t>plt.title</a:t>
            </a:r>
            <a:r>
              <a:rPr lang="en-US" dirty="0"/>
              <a:t>("Canny Edge Detection")</a:t>
            </a:r>
          </a:p>
          <a:p>
            <a:r>
              <a:rPr lang="en-US" dirty="0" err="1"/>
              <a:t>plt.axis</a:t>
            </a:r>
            <a:r>
              <a:rPr lang="en-US" dirty="0"/>
              <a:t>('off')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0935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1E166-0E3A-89E2-BFFF-41A98F1D5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Feature Extraction (HOG – Histogram of Oriented Gradients)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2ECFD-D5E2-2380-7E69-1467B6B19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from </a:t>
            </a:r>
            <a:r>
              <a:rPr lang="en-US" dirty="0" err="1"/>
              <a:t>skimage.feature</a:t>
            </a:r>
            <a:r>
              <a:rPr lang="en-US" dirty="0"/>
              <a:t> import hog</a:t>
            </a:r>
          </a:p>
          <a:p>
            <a:endParaRPr lang="en-US" dirty="0"/>
          </a:p>
          <a:p>
            <a:r>
              <a:rPr lang="en-US" dirty="0"/>
              <a:t>features, </a:t>
            </a:r>
            <a:r>
              <a:rPr lang="en-US" dirty="0" err="1"/>
              <a:t>hog_image</a:t>
            </a:r>
            <a:r>
              <a:rPr lang="en-US" dirty="0"/>
              <a:t> = hog(</a:t>
            </a:r>
          </a:p>
          <a:p>
            <a:r>
              <a:rPr lang="en-US" dirty="0"/>
              <a:t>    </a:t>
            </a:r>
            <a:r>
              <a:rPr lang="en-US" dirty="0" err="1"/>
              <a:t>img</a:t>
            </a:r>
            <a:r>
              <a:rPr lang="en-US" dirty="0"/>
              <a:t>,</a:t>
            </a:r>
          </a:p>
          <a:p>
            <a:r>
              <a:rPr lang="en-US" dirty="0"/>
              <a:t>    orientations=9,</a:t>
            </a:r>
          </a:p>
          <a:p>
            <a:r>
              <a:rPr lang="en-US" dirty="0"/>
              <a:t>    </a:t>
            </a:r>
            <a:r>
              <a:rPr lang="en-US" dirty="0" err="1"/>
              <a:t>pixels_per_cell</a:t>
            </a:r>
            <a:r>
              <a:rPr lang="en-US" dirty="0"/>
              <a:t>=(8, 8),</a:t>
            </a:r>
          </a:p>
          <a:p>
            <a:r>
              <a:rPr lang="en-US" dirty="0"/>
              <a:t>    </a:t>
            </a:r>
            <a:r>
              <a:rPr lang="en-US" dirty="0" err="1"/>
              <a:t>cells_per_block</a:t>
            </a:r>
            <a:r>
              <a:rPr lang="en-US" dirty="0"/>
              <a:t>=(2, 2),</a:t>
            </a:r>
          </a:p>
          <a:p>
            <a:r>
              <a:rPr lang="en-US" dirty="0"/>
              <a:t>    visualize=True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plt.imshow</a:t>
            </a:r>
            <a:r>
              <a:rPr lang="en-US" dirty="0"/>
              <a:t>(</a:t>
            </a:r>
            <a:r>
              <a:rPr lang="en-US" dirty="0" err="1"/>
              <a:t>hog_image</a:t>
            </a:r>
            <a:r>
              <a:rPr lang="en-US" dirty="0"/>
              <a:t>, </a:t>
            </a:r>
            <a:r>
              <a:rPr lang="en-US" dirty="0" err="1"/>
              <a:t>cmap</a:t>
            </a:r>
            <a:r>
              <a:rPr lang="en-US" dirty="0"/>
              <a:t>='gray')</a:t>
            </a:r>
          </a:p>
          <a:p>
            <a:r>
              <a:rPr lang="en-US" dirty="0" err="1"/>
              <a:t>plt.title</a:t>
            </a:r>
            <a:r>
              <a:rPr lang="en-US" dirty="0"/>
              <a:t>("HOG Features")</a:t>
            </a:r>
          </a:p>
          <a:p>
            <a:r>
              <a:rPr lang="en-US" dirty="0" err="1"/>
              <a:t>plt.axis</a:t>
            </a:r>
            <a:r>
              <a:rPr lang="en-US" dirty="0"/>
              <a:t>('off')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print("Feature vector length:", </a:t>
            </a:r>
            <a:r>
              <a:rPr lang="en-US" dirty="0" err="1"/>
              <a:t>len</a:t>
            </a:r>
            <a:r>
              <a:rPr lang="en-US" dirty="0"/>
              <a:t>(features))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881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31A1D-5B68-9F70-B938-3248B54A5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Pattern Recognition using k-Nearest Neighbor (k-NN)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2C9FF-5568-0280-D127-DC9D8F6C6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86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3526A-9EC6-176C-F66B-9DE13DC6E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3E2BD-BAC2-8643-068C-6FBE47856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Pattern Recognition using k-Nearest Neighbor (k-NN)</a:t>
            </a:r>
          </a:p>
        </p:txBody>
      </p:sp>
    </p:spTree>
    <p:extLst>
      <p:ext uri="{BB962C8B-B14F-4D97-AF65-F5344CB8AC3E}">
        <p14:creationId xmlns:p14="http://schemas.microsoft.com/office/powerpoint/2010/main" val="3145459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8CBB7-0B70-FDAA-4CFD-A009FB0A7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9784"/>
            <a:ext cx="10515600" cy="5847179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from </a:t>
            </a:r>
            <a:r>
              <a:rPr lang="en-US" dirty="0" err="1"/>
              <a:t>sklearn.datasets</a:t>
            </a:r>
            <a:r>
              <a:rPr lang="en-US" dirty="0"/>
              <a:t> import </a:t>
            </a:r>
            <a:r>
              <a:rPr lang="en-US" dirty="0" err="1"/>
              <a:t>load_digits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sklearn.neighbors</a:t>
            </a:r>
            <a:r>
              <a:rPr lang="en-US" dirty="0"/>
              <a:t> import </a:t>
            </a:r>
            <a:r>
              <a:rPr lang="en-US" dirty="0" err="1"/>
              <a:t>KNeighborsClassifier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sklearn.metrics</a:t>
            </a:r>
            <a:r>
              <a:rPr lang="en-US" dirty="0"/>
              <a:t> import </a:t>
            </a:r>
            <a:r>
              <a:rPr lang="en-US" dirty="0" err="1"/>
              <a:t>accuracy_score</a:t>
            </a:r>
            <a:endParaRPr lang="en-US" dirty="0"/>
          </a:p>
          <a:p>
            <a:endParaRPr lang="en-US" dirty="0"/>
          </a:p>
          <a:p>
            <a:r>
              <a:rPr lang="en-US" dirty="0"/>
              <a:t># Load dataset</a:t>
            </a:r>
          </a:p>
          <a:p>
            <a:r>
              <a:rPr lang="en-US" dirty="0"/>
              <a:t>digits = </a:t>
            </a:r>
            <a:r>
              <a:rPr lang="en-US" dirty="0" err="1"/>
              <a:t>load_digits</a:t>
            </a:r>
            <a:r>
              <a:rPr lang="en-US" dirty="0"/>
              <a:t>()</a:t>
            </a:r>
          </a:p>
          <a:p>
            <a:r>
              <a:rPr lang="en-US" dirty="0"/>
              <a:t>X = </a:t>
            </a:r>
            <a:r>
              <a:rPr lang="en-US" dirty="0" err="1"/>
              <a:t>digits.data</a:t>
            </a:r>
            <a:endParaRPr lang="en-US" dirty="0"/>
          </a:p>
          <a:p>
            <a:r>
              <a:rPr lang="en-US" dirty="0"/>
              <a:t>y = </a:t>
            </a:r>
            <a:r>
              <a:rPr lang="en-US" dirty="0" err="1"/>
              <a:t>digits.target</a:t>
            </a:r>
            <a:endParaRPr lang="en-US" dirty="0"/>
          </a:p>
          <a:p>
            <a:endParaRPr lang="en-US" dirty="0"/>
          </a:p>
          <a:p>
            <a:r>
              <a:rPr lang="en-US" dirty="0"/>
              <a:t># Train-test split</a:t>
            </a:r>
          </a:p>
          <a:p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, </a:t>
            </a:r>
            <a:r>
              <a:rPr lang="en-US" dirty="0" err="1"/>
              <a:t>y_test</a:t>
            </a:r>
            <a:r>
              <a:rPr lang="en-US" dirty="0"/>
              <a:t> = </a:t>
            </a:r>
            <a:r>
              <a:rPr lang="en-US" dirty="0" err="1"/>
              <a:t>train_test_split</a:t>
            </a:r>
            <a:r>
              <a:rPr lang="en-US" dirty="0"/>
              <a:t>(</a:t>
            </a:r>
          </a:p>
          <a:p>
            <a:r>
              <a:rPr lang="en-US" dirty="0"/>
              <a:t>    X, y, </a:t>
            </a:r>
            <a:r>
              <a:rPr lang="en-US" dirty="0" err="1"/>
              <a:t>test_size</a:t>
            </a:r>
            <a:r>
              <a:rPr lang="en-US" dirty="0"/>
              <a:t>=0.3, </a:t>
            </a:r>
            <a:r>
              <a:rPr lang="en-US" dirty="0" err="1"/>
              <a:t>random_state</a:t>
            </a:r>
            <a:r>
              <a:rPr lang="en-US" dirty="0"/>
              <a:t>=42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k-NN Classifier</a:t>
            </a:r>
          </a:p>
          <a:p>
            <a:r>
              <a:rPr lang="en-US" dirty="0" err="1"/>
              <a:t>knn</a:t>
            </a:r>
            <a:r>
              <a:rPr lang="en-US" dirty="0"/>
              <a:t> = </a:t>
            </a:r>
            <a:r>
              <a:rPr lang="en-US" dirty="0" err="1"/>
              <a:t>KNeighborsClassifier</a:t>
            </a:r>
            <a:r>
              <a:rPr lang="en-US" dirty="0"/>
              <a:t>(</a:t>
            </a:r>
            <a:r>
              <a:rPr lang="en-US" dirty="0" err="1"/>
              <a:t>n_neighbors</a:t>
            </a:r>
            <a:r>
              <a:rPr lang="en-US" dirty="0"/>
              <a:t>=5)</a:t>
            </a:r>
          </a:p>
          <a:p>
            <a:r>
              <a:rPr lang="en-US" dirty="0" err="1"/>
              <a:t>knn.fit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# Prediction</a:t>
            </a:r>
          </a:p>
          <a:p>
            <a:r>
              <a:rPr lang="en-US" dirty="0" err="1"/>
              <a:t>y_pred</a:t>
            </a:r>
            <a:r>
              <a:rPr lang="en-US" dirty="0"/>
              <a:t> = </a:t>
            </a:r>
            <a:r>
              <a:rPr lang="en-US" dirty="0" err="1"/>
              <a:t>knn.predict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print("Accuracy:", </a:t>
            </a:r>
            <a:r>
              <a:rPr lang="en-US" dirty="0" err="1"/>
              <a:t>accuracy_score</a:t>
            </a:r>
            <a:r>
              <a:rPr lang="en-US" dirty="0"/>
              <a:t>(</a:t>
            </a:r>
            <a:r>
              <a:rPr lang="en-US" dirty="0" err="1"/>
              <a:t>y_test</a:t>
            </a:r>
            <a:r>
              <a:rPr lang="en-US" dirty="0"/>
              <a:t>, </a:t>
            </a:r>
            <a:r>
              <a:rPr lang="en-US" dirty="0" err="1"/>
              <a:t>y_pred</a:t>
            </a:r>
            <a:r>
              <a:rPr lang="en-US" dirty="0"/>
              <a:t>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0885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0C71F-C8F2-05AE-B4E6-478F18AFF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Object Detection using Contours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2693E-22EF-7000-4743-90FA63321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_, thresh = cv2.threshold(</a:t>
            </a:r>
            <a:r>
              <a:rPr lang="en-US" dirty="0" err="1"/>
              <a:t>img</a:t>
            </a:r>
            <a:r>
              <a:rPr lang="en-US" dirty="0"/>
              <a:t>, 127, 255, cv2.THRESH_BINARY)</a:t>
            </a:r>
          </a:p>
          <a:p>
            <a:r>
              <a:rPr lang="en-US" dirty="0"/>
              <a:t>contours, _ = cv2.findContours(</a:t>
            </a:r>
          </a:p>
          <a:p>
            <a:r>
              <a:rPr lang="en-US" dirty="0"/>
              <a:t>    thresh, cv2.RETR_EXTERNAL, cv2.CHAIN_APPROX_SIMPLE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output = cv2.cvtColor(</a:t>
            </a:r>
            <a:r>
              <a:rPr lang="en-US" dirty="0" err="1"/>
              <a:t>img</a:t>
            </a:r>
            <a:r>
              <a:rPr lang="en-US" dirty="0"/>
              <a:t>, cv2.COLOR_GRAY2BGR)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dirty="0" err="1"/>
              <a:t>cnt</a:t>
            </a:r>
            <a:r>
              <a:rPr lang="en-US" dirty="0"/>
              <a:t> in contours:</a:t>
            </a:r>
          </a:p>
          <a:p>
            <a:r>
              <a:rPr lang="en-US" dirty="0"/>
              <a:t>    x, y, w, h = cv2.boundingRect(</a:t>
            </a:r>
            <a:r>
              <a:rPr lang="en-US" dirty="0" err="1"/>
              <a:t>cnt</a:t>
            </a:r>
            <a:r>
              <a:rPr lang="en-US" dirty="0"/>
              <a:t>)</a:t>
            </a:r>
          </a:p>
          <a:p>
            <a:r>
              <a:rPr lang="en-US" dirty="0"/>
              <a:t>    if w &gt; 20 and h &gt; 20:</a:t>
            </a:r>
          </a:p>
          <a:p>
            <a:r>
              <a:rPr lang="en-US" dirty="0"/>
              <a:t>        cv2.rectangle(output, (x, y), (</a:t>
            </a:r>
            <a:r>
              <a:rPr lang="en-US" dirty="0" err="1"/>
              <a:t>x+w</a:t>
            </a:r>
            <a:r>
              <a:rPr lang="en-US" dirty="0"/>
              <a:t>, </a:t>
            </a:r>
            <a:r>
              <a:rPr lang="en-US" dirty="0" err="1"/>
              <a:t>y+h</a:t>
            </a:r>
            <a:r>
              <a:rPr lang="en-US" dirty="0"/>
              <a:t>), (0, 255, 0), 2)</a:t>
            </a:r>
          </a:p>
          <a:p>
            <a:endParaRPr lang="en-US" dirty="0"/>
          </a:p>
          <a:p>
            <a:r>
              <a:rPr lang="en-US" dirty="0" err="1"/>
              <a:t>plt.imshow</a:t>
            </a:r>
            <a:r>
              <a:rPr lang="en-US" dirty="0"/>
              <a:t>(output)</a:t>
            </a:r>
          </a:p>
          <a:p>
            <a:r>
              <a:rPr lang="en-US" dirty="0" err="1"/>
              <a:t>plt.title</a:t>
            </a:r>
            <a:r>
              <a:rPr lang="en-US" dirty="0"/>
              <a:t>("Object Detection using Contours")</a:t>
            </a:r>
          </a:p>
          <a:p>
            <a:r>
              <a:rPr lang="en-US" dirty="0" err="1"/>
              <a:t>plt.axis</a:t>
            </a:r>
            <a:r>
              <a:rPr lang="en-US" dirty="0"/>
              <a:t>('off')</a:t>
            </a:r>
          </a:p>
          <a:p>
            <a:r>
              <a:rPr lang="en-US" dirty="0" err="1"/>
              <a:t>plt.show</a:t>
            </a:r>
            <a:r>
              <a:rPr lang="en-US" dirty="0"/>
              <a:t>()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710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8E673-5777-FB12-C9F8-EB2008F6E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Exam Mapping (Very Important)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0CCABD-1101-9541-66D8-A185AF602C2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564985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722844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Topic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Code Section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6198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Image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Sobel, Canny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601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 Extraction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074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Pattern Recognition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k-NN Classifier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159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Object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Contours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4829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2644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0BABA-9BF9-B546-048F-4659E5EAA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68E26-36AF-B5F9-4391-A762081D0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Suggested Lab Assignment</a:t>
            </a:r>
          </a:p>
          <a:p>
            <a:r>
              <a:rPr lang="en-US" b="1" dirty="0"/>
              <a:t>Task:</a:t>
            </a:r>
            <a:endParaRPr lang="en-US" dirty="0"/>
          </a:p>
          <a:p>
            <a:r>
              <a:rPr lang="en-US" dirty="0"/>
              <a:t>Apply </a:t>
            </a:r>
            <a:r>
              <a:rPr lang="en-US" b="1" dirty="0"/>
              <a:t>Canny edge detection</a:t>
            </a:r>
            <a:r>
              <a:rPr lang="en-US" dirty="0"/>
              <a:t> on medical images</a:t>
            </a:r>
          </a:p>
          <a:p>
            <a:r>
              <a:rPr lang="en-US" dirty="0"/>
              <a:t>Extract </a:t>
            </a:r>
            <a:r>
              <a:rPr lang="en-US" b="1" dirty="0"/>
              <a:t>HOG features</a:t>
            </a:r>
            <a:endParaRPr lang="en-US" dirty="0"/>
          </a:p>
          <a:p>
            <a:r>
              <a:rPr lang="en-US" dirty="0"/>
              <a:t>Classify images using </a:t>
            </a:r>
            <a:r>
              <a:rPr lang="en-US" b="1" dirty="0"/>
              <a:t>k-NN or SVM</a:t>
            </a:r>
            <a:endParaRPr lang="en-US" dirty="0"/>
          </a:p>
          <a:p>
            <a:r>
              <a:rPr lang="en-US" dirty="0"/>
              <a:t>Report accuracy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📌 Summary</a:t>
            </a:r>
          </a:p>
          <a:p>
            <a:r>
              <a:rPr lang="en-US" b="1" dirty="0"/>
              <a:t>Image Detection</a:t>
            </a:r>
            <a:r>
              <a:rPr lang="en-US" dirty="0"/>
              <a:t> → edges, contours</a:t>
            </a:r>
          </a:p>
          <a:p>
            <a:r>
              <a:rPr lang="en-US" b="1" dirty="0"/>
              <a:t>Feature Extraction</a:t>
            </a:r>
            <a:r>
              <a:rPr lang="en-US" dirty="0"/>
              <a:t> → HOG</a:t>
            </a:r>
          </a:p>
          <a:p>
            <a:r>
              <a:rPr lang="en-US" b="1" dirty="0"/>
              <a:t>Pattern Recognition</a:t>
            </a:r>
            <a:r>
              <a:rPr lang="en-US" dirty="0"/>
              <a:t> → k-NN / ML</a:t>
            </a:r>
          </a:p>
          <a:p>
            <a:r>
              <a:rPr lang="en-US" dirty="0"/>
              <a:t>Python + OpenCV is industry standard for DIP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443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1270</Words>
  <Application>Microsoft Office PowerPoint</Application>
  <PresentationFormat>Widescreen</PresentationFormat>
  <Paragraphs>227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📘 Image Detection &amp; Pattern Recognition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8. Object Detection vs Pattern Recognition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Image Loading &amp; Preprocessing</vt:lpstr>
      <vt:lpstr>2. Edge Detection (Sobel &amp; Canny)</vt:lpstr>
      <vt:lpstr>Canny Edge Detection</vt:lpstr>
      <vt:lpstr>3. Feature Extraction (HOG – Histogram of Oriented Gradients)</vt:lpstr>
      <vt:lpstr>4. Pattern Recognition using k-Nearest Neighbor (k-NN)</vt:lpstr>
      <vt:lpstr>PowerPoint Presentation</vt:lpstr>
      <vt:lpstr>PowerPoint Presentation</vt:lpstr>
      <vt:lpstr>Simple Object Detection using Contours</vt:lpstr>
      <vt:lpstr>6. Exam Mapping (Very Important)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37</cp:revision>
  <dcterms:created xsi:type="dcterms:W3CDTF">2026-01-20T08:30:05Z</dcterms:created>
  <dcterms:modified xsi:type="dcterms:W3CDTF">2026-01-20T08:36:26Z</dcterms:modified>
</cp:coreProperties>
</file>