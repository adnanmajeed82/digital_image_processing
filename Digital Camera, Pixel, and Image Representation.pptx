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EEA3-7585-AC50-A9DE-22DC5D1ED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B09C6-666F-4D0F-ABB4-E4804333E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80BAF-6D60-7A5F-C1A4-ACD9BC8F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A607-D872-6CCC-A6E3-6C1BDB10C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AF9D-AABD-BC92-C24D-53D5B8C5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7D54-6281-DFF9-2C36-764BCD2B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47F1-DAC6-5BB2-42DA-1E926DE70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9E78A-DFD3-C1D6-AE4F-852C81FF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8DF4B-8A4E-FF99-F648-85B6AAB6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BE6D0-2F6A-EB92-ACBF-C1DC5650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8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9659-ECB1-1FBF-7D1D-2134B260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11553-9DB6-3063-75CF-76DC71F8E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FC04-9011-8F5F-E22B-BBC9939C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CDA4E-C9F0-A30C-2819-EC20D650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59E04-A2E3-AE33-7943-614D4737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9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594C-4F80-DA6D-25CE-65BC2273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2B83C-8636-3441-757D-C66C3E1E6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632FB-37DB-5E00-63FC-D46979B88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B2A9A-8100-00E0-B366-D412FEAE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57183-9827-A513-6F8D-ED019A29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F55D3-CE19-4A86-C0C3-E36107B9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8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01E5-E6BA-2541-621F-013537EC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5C387-4EBA-0D86-75F0-5F143F24B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0A4E9-D96F-C621-CA6F-EC4783C70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DAF42-CAC3-7D8C-4E95-C9DE35D32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089FF-198C-2508-91F9-F961979B9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DC88C-EB66-C4A6-4C1F-50A16CBA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66314-F20E-F913-3BEB-4E58F9EC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17A89-CB80-3D9F-059E-2AE7F5C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3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3497-6461-5DBF-B5AA-F296FA6B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A2B23-8191-E6A3-1FF9-57247B33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6D697-CB59-AC41-EF98-28B9B7EA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B4369-FD1A-5694-ED5C-4F2043FA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8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BC414-B4C4-92BD-F967-BDA91A47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20896-1E03-87FB-0651-232660B8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67DD2-08DA-D5C5-0C9A-E10A26D5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6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B37E-5A0D-6B19-6835-B4640BA2B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87A0E-9F2E-C85D-3A9A-887395930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29150-6E53-3625-25F8-3CEE83AA1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07505-415F-AB88-5073-57F936D7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8E736-B7D7-684E-D386-9D64F5A2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524B5-0D0F-5B2F-2009-1BB850C1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2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FDA0-94A6-C28C-70C3-BE5A18C0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96C4-385C-7976-842D-C579D8A6E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56746-EB01-CEDD-575C-31FD1BC96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52D2-E1C4-F19B-7328-AF09E754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2A78B-EBED-1E32-2036-7D4C9278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D1976-4823-7A9A-E737-34A023E6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1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7CEC-AEBB-368D-9A9E-6437F5A8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5F89D-77A1-2BDF-74D1-0B30C0C67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EEB01-409F-5FCE-770E-799C9BCF1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2757-9C2B-A45D-0984-8F3156D9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D6FD0-B82E-AF51-ED11-533B79F8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9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2493D-8EDF-CF74-904B-1CC23E4CB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37846-EC4A-2CCE-C721-7190746A2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A2910-2E6F-6691-FA3E-FAA299C6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5CE73-C5B4-87A5-8D7C-2D915A0B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BA22D-775A-0C43-7A8E-9AAD3E02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6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65A4A-4065-4CDC-144D-8136A9C7F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86120-74C6-549B-7CC6-6F25EC86E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34204-D3C0-FFB2-89B8-37BC6A9CC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3A47D-FDC3-4FB8-BFF6-355B1DA0EB11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86BF1-D45F-E28B-2DBE-1F6CA31B7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2F537-B40F-96AA-FEAB-3951CAB5C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62776-4367-4F83-BCBA-E134A4C36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874D-42BF-5A84-1D09-D9A5AA04E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Camera, Pixel, and Image Representation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CFDEC-67A9-1D99-F4CC-4B426713A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Lecturer </a:t>
            </a:r>
          </a:p>
        </p:txBody>
      </p:sp>
    </p:spTree>
    <p:extLst>
      <p:ext uri="{BB962C8B-B14F-4D97-AF65-F5344CB8AC3E}">
        <p14:creationId xmlns:p14="http://schemas.microsoft.com/office/powerpoint/2010/main" val="214341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64D-DF22-2240-4228-7EF7B41B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B7B4CD-2C1F-C79E-5442-A86030A5D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dirty="0"/>
              <a:t>A digital camera captures and stores images in digital form using electronic sensors instead of film. It converts light into digital data that can be processed, stored, and displayed.</a:t>
            </a:r>
          </a:p>
        </p:txBody>
      </p:sp>
    </p:spTree>
    <p:extLst>
      <p:ext uri="{BB962C8B-B14F-4D97-AF65-F5344CB8AC3E}">
        <p14:creationId xmlns:p14="http://schemas.microsoft.com/office/powerpoint/2010/main" val="335827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AB4A-5805-2A25-3595-33183901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108"/>
          </a:xfrm>
        </p:spPr>
        <p:txBody>
          <a:bodyPr/>
          <a:lstStyle/>
          <a:p>
            <a:r>
              <a:rPr lang="en-US" dirty="0"/>
              <a:t>Working Principle of a Digital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50142-4F95-B7EE-9C60-9F070938D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636" y="1304143"/>
            <a:ext cx="10987790" cy="4991725"/>
          </a:xfrm>
        </p:spPr>
        <p:txBody>
          <a:bodyPr/>
          <a:lstStyle/>
          <a:p>
            <a:r>
              <a:rPr lang="en-US" dirty="0"/>
              <a:t>A digital camera captures images through the following main steps: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EA54D-FB9A-C0BD-7E88-9A6E171C8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76" y="2191142"/>
            <a:ext cx="9447067" cy="411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3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931DE2-4704-FC13-BBD7-4DFF27337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711" y="2039646"/>
            <a:ext cx="10345204" cy="163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5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7F3B-9CD7-E85B-48F5-F989C11E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Inside a Digital Camera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0A60FB-6C20-ABF6-749A-90FF955599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55289" y="1766858"/>
          <a:ext cx="8481422" cy="4468872"/>
        </p:xfrm>
        <a:graphic>
          <a:graphicData uri="http://schemas.openxmlformats.org/drawingml/2006/table">
            <a:tbl>
              <a:tblPr/>
              <a:tblGrid>
                <a:gridCol w="4240711">
                  <a:extLst>
                    <a:ext uri="{9D8B030D-6E8A-4147-A177-3AD203B41FA5}">
                      <a16:colId xmlns:a16="http://schemas.microsoft.com/office/drawing/2014/main" val="2289920676"/>
                    </a:ext>
                  </a:extLst>
                </a:gridCol>
                <a:gridCol w="4240711">
                  <a:extLst>
                    <a:ext uri="{9D8B030D-6E8A-4147-A177-3AD203B41FA5}">
                      <a16:colId xmlns:a16="http://schemas.microsoft.com/office/drawing/2014/main" val="1642261907"/>
                    </a:ext>
                  </a:extLst>
                </a:gridCol>
              </a:tblGrid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Component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Function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901171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Lens System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Focuses incoming light rays to form a clear image on the sensor.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38581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Aperture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Controls the </a:t>
                      </a:r>
                      <a:r>
                        <a:rPr lang="en-US" sz="1500" b="1"/>
                        <a:t>amount of light</a:t>
                      </a:r>
                      <a:r>
                        <a:rPr lang="en-US" sz="1500"/>
                        <a:t> entering the camera (like the pupil of an eye).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09007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Shutter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Determines </a:t>
                      </a:r>
                      <a:r>
                        <a:rPr lang="en-US" sz="1500" b="1"/>
                        <a:t>exposure time</a:t>
                      </a:r>
                      <a:r>
                        <a:rPr lang="en-US" sz="1500"/>
                        <a:t> — how long the sensor is exposed to light.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87226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Image Sensor (CCD/CMOS)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Converts light into electrical signals.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880098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Analog-to-Digital Converter (ADC)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Converts analog signals from the sensor into digital data.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134302"/>
                  </a:ext>
                </a:extLst>
              </a:tr>
              <a:tr h="51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Digital Signal Processor (DSP)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Enhances image quality (color balance, contrast, noise reduction).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207709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Viewfinder / LCD Screen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Displays the image being captured.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10013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Memory Card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Stores the captured digital images.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410974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Battery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Powers the electronic components.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5901"/>
                  </a:ext>
                </a:extLst>
              </a:tr>
              <a:tr h="29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Flash Unit</a:t>
                      </a:r>
                      <a:endParaRPr lang="en-US" sz="15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Provides artificial light for low-light conditions.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846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48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424F-CC12-AED9-FF0C-7BE370C4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Image Sensors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CA4EC-62EE-830F-4F0A-3877886EA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9456750"/>
              </p:ext>
            </p:extLst>
          </p:nvPr>
        </p:nvGraphicFramePr>
        <p:xfrm>
          <a:off x="643328" y="1828799"/>
          <a:ext cx="10515600" cy="281815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517264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90062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78530902"/>
                    </a:ext>
                  </a:extLst>
                </a:gridCol>
              </a:tblGrid>
              <a:tr h="626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Full Form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Characteristics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524821"/>
                  </a:ext>
                </a:extLst>
              </a:tr>
              <a:tr h="1095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CCD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Charge Coupled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image quality, low noise, more power consumption.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207114"/>
                  </a:ext>
                </a:extLst>
              </a:tr>
              <a:tr h="1095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CMOS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Complementary Metal Oxide Semiconductor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Faster, cheaper, low power, slightly more noise.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92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01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63B3-EDE2-F81F-E4D4-BB2F09FE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 of Pixel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B3E0-49A2-C382-876B-B826EAFF2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Pixel (Picture Element)</a:t>
            </a:r>
            <a:r>
              <a:rPr lang="en-US" dirty="0"/>
              <a:t> is the </a:t>
            </a:r>
            <a:r>
              <a:rPr lang="en-US" b="1" dirty="0"/>
              <a:t>smallest unit of a digital image</a:t>
            </a:r>
            <a:r>
              <a:rPr lang="en-US" dirty="0"/>
              <a:t>.</a:t>
            </a:r>
          </a:p>
          <a:p>
            <a:r>
              <a:rPr lang="en-US" dirty="0"/>
              <a:t>Each pixel represents a </a:t>
            </a:r>
            <a:r>
              <a:rPr lang="en-US" b="1" dirty="0"/>
              <a:t>single point</a:t>
            </a:r>
            <a:r>
              <a:rPr lang="en-US" dirty="0"/>
              <a:t> in the image and holds </a:t>
            </a:r>
            <a:r>
              <a:rPr lang="en-US" b="1" dirty="0"/>
              <a:t>color and intensity information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resolution</a:t>
            </a:r>
            <a:r>
              <a:rPr lang="en-US" dirty="0"/>
              <a:t> of an image depends on the </a:t>
            </a:r>
            <a:r>
              <a:rPr lang="en-US" b="1" dirty="0"/>
              <a:t>number of pixels</a:t>
            </a:r>
            <a:r>
              <a:rPr lang="en-US" dirty="0"/>
              <a:t> (e.g., 1920×1080 = 2,073,600 pixels ≈ 2.1 Megapixels).</a:t>
            </a:r>
          </a:p>
          <a:p>
            <a:r>
              <a:rPr lang="en-US" b="1" dirty="0"/>
              <a:t>Types of Pixel Values:</a:t>
            </a:r>
            <a:endParaRPr lang="en-US" dirty="0"/>
          </a:p>
          <a:p>
            <a:r>
              <a:rPr lang="en-US" b="1" dirty="0"/>
              <a:t>Binary Image:</a:t>
            </a:r>
            <a:r>
              <a:rPr lang="en-US" dirty="0"/>
              <a:t> Pixels are either </a:t>
            </a:r>
            <a:r>
              <a:rPr lang="en-US" b="1" dirty="0"/>
              <a:t>0 (black)</a:t>
            </a:r>
            <a:r>
              <a:rPr lang="en-US" dirty="0"/>
              <a:t> or </a:t>
            </a:r>
            <a:r>
              <a:rPr lang="en-US" b="1" dirty="0"/>
              <a:t>1 (white)</a:t>
            </a:r>
            <a:r>
              <a:rPr lang="en-US" dirty="0"/>
              <a:t>.</a:t>
            </a:r>
          </a:p>
          <a:p>
            <a:r>
              <a:rPr lang="en-US" b="1" dirty="0"/>
              <a:t>Grayscale Image:</a:t>
            </a:r>
            <a:r>
              <a:rPr lang="en-US" dirty="0"/>
              <a:t> Pixels range from </a:t>
            </a:r>
            <a:r>
              <a:rPr lang="en-US" b="1" dirty="0"/>
              <a:t>0–255</a:t>
            </a:r>
            <a:r>
              <a:rPr lang="en-US" dirty="0"/>
              <a:t>, where 0 = black, 255 = white.</a:t>
            </a:r>
          </a:p>
          <a:p>
            <a:r>
              <a:rPr lang="en-US" b="1" dirty="0"/>
              <a:t>Color Image:</a:t>
            </a:r>
            <a:r>
              <a:rPr lang="en-US" dirty="0"/>
              <a:t> Each pixel has </a:t>
            </a:r>
            <a:r>
              <a:rPr lang="en-US" b="1" dirty="0"/>
              <a:t>three components (R, G, B)</a:t>
            </a:r>
            <a:r>
              <a:rPr lang="en-US" dirty="0"/>
              <a:t> with values 0–255.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52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248D-4339-FF70-EC47-679B78B4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(Grayscale Pixel):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ABA237-D57B-4EBA-ADDD-224056B35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250896"/>
              </p:ext>
            </p:extLst>
          </p:nvPr>
        </p:nvGraphicFramePr>
        <p:xfrm>
          <a:off x="838200" y="1978702"/>
          <a:ext cx="10515600" cy="21818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359191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15409950"/>
                    </a:ext>
                  </a:extLst>
                </a:gridCol>
              </a:tblGrid>
              <a:tr h="54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Pixel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024463"/>
                  </a:ext>
                </a:extLst>
              </a:tr>
              <a:tr h="54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215258"/>
                  </a:ext>
                </a:extLst>
              </a:tr>
              <a:tr h="54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348722"/>
                  </a:ext>
                </a:extLst>
              </a:tr>
              <a:tr h="54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80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011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637D-59AF-2D7E-793E-A9963502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Representation in Digital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078D1-577D-A4B0-F23B-8BB0894885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Digital images are represented as </a:t>
                </a:r>
                <a:r>
                  <a:rPr lang="en-US" b="1" dirty="0"/>
                  <a:t>2D arrays or matrices</a:t>
                </a:r>
                <a:r>
                  <a:rPr lang="en-US" dirty="0"/>
                  <a:t> of pixel values.</a:t>
                </a:r>
              </a:p>
              <a:p>
                <a:r>
                  <a:rPr lang="en-US" b="1" dirty="0"/>
                  <a:t>a. Binary Image Representation</a:t>
                </a:r>
              </a:p>
              <a:p>
                <a:r>
                  <a:rPr lang="en-US" dirty="0"/>
                  <a:t>Contains only two pixel values: </a:t>
                </a:r>
                <a:r>
                  <a:rPr lang="en-US" b="1" dirty="0"/>
                  <a:t>0 or 1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Used in edge detection, thresholding, and shape recognition.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𝐼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0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1</m:t>
                              </m:r>
                            </m:e>
                            <m:e>
                              <m:r>
                                <a:rPr lang="ar-AE"/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US" b="1" dirty="0"/>
                  <a:t>b. Grayscale Image Representation</a:t>
                </a:r>
              </a:p>
              <a:p>
                <a:r>
                  <a:rPr lang="en-US" dirty="0"/>
                  <a:t>Pixel values range from 0–255.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𝐼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  <m:e>
                        <m:r>
                          <a:rPr lang="ar-AE" i="1"/>
                          <m:t>𝑦</m:t>
                        </m:r>
                      </m:e>
                    </m:d>
                    <m:r>
                      <a:rPr lang="ar-AE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/>
                            </m:ctrlPr>
                          </m:mPr>
                          <m:mr>
                            <m:e>
                              <m:r>
                                <a:rPr lang="ar-AE"/>
                                <m:t>120</m:t>
                              </m:r>
                            </m:e>
                            <m:e>
                              <m:r>
                                <a:rPr lang="ar-AE"/>
                                <m:t>180</m:t>
                              </m:r>
                            </m:e>
                            <m:e>
                              <m:r>
                                <a:rPr lang="ar-AE"/>
                                <m:t>200</m:t>
                              </m:r>
                            </m:e>
                          </m:mr>
                          <m:mr>
                            <m:e>
                              <m:r>
                                <a:rPr lang="ar-AE"/>
                                <m:t>90</m:t>
                              </m:r>
                            </m:e>
                            <m:e>
                              <m:r>
                                <a:rPr lang="ar-AE"/>
                                <m:t>150</m:t>
                              </m:r>
                            </m:e>
                            <m:e>
                              <m:r>
                                <a:rPr lang="ar-AE"/>
                                <m:t>220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078D1-577D-A4B0-F23B-8BB0894885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51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A2FC-E9D4-7AC7-F3B0-E773CD62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C87A2B-758C-66FA-12BE-4E12C1919E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983753"/>
              </p:ext>
            </p:extLst>
          </p:nvPr>
        </p:nvGraphicFramePr>
        <p:xfrm>
          <a:off x="838200" y="2413416"/>
          <a:ext cx="10515600" cy="2319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0228071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106564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506302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808821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9872440"/>
                    </a:ext>
                  </a:extLst>
                </a:gridCol>
              </a:tblGrid>
              <a:tr h="57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Pixel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911871"/>
                  </a:ext>
                </a:extLst>
              </a:tr>
              <a:tr h="57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(1,1)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82141"/>
                  </a:ext>
                </a:extLst>
              </a:tr>
              <a:tr h="57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(1,2)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407331"/>
                  </a:ext>
                </a:extLst>
              </a:tr>
              <a:tr h="57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(1,3)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694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01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24D9-7806-878B-F3E9-D76B1849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Resolution and Quality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6960F2-8C14-D828-D578-633BCBA4F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51315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pixels in width × height.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resolution → more detail.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Size (bytes):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Width×Height×Color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Depth\</a:t>
            </a:r>
          </a:p>
        </p:txBody>
      </p:sp>
    </p:spTree>
    <p:extLst>
      <p:ext uri="{BB962C8B-B14F-4D97-AF65-F5344CB8AC3E}">
        <p14:creationId xmlns:p14="http://schemas.microsoft.com/office/powerpoint/2010/main" val="883878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5CBC-B3C4-6A0A-52C0-EC2E65263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93AF77-10A3-1D33-62CA-EE96876895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296589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74011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687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Image 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Color Depth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Typical Use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10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87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Grayscale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Medical imaging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836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24-bit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Photography, videos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34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80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5723-949E-4796-1D23-3A44182F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0F7A3D-E359-F2F8-8944-0752401356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224853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22564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Topic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Point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038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Digital Camera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light to digital images via electronic sensors.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020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Main Components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Lens, Aperture, Shutter, Sensor, ADC, Processor,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365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Pixel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Smallest image unit holding color/intensity info.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3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Image Representation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Binary, Grayscale, and RGB matrix formats.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80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Resolution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Determines image clarity and detail.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250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362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23A5-AC72-6B1F-AC26-D1866C36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AE88-2C51-0CD0-6FB0-F908E19F6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</a:p>
          <a:p>
            <a:r>
              <a:rPr lang="en-US" dirty="0"/>
              <a:t>Photography and Videography</a:t>
            </a:r>
          </a:p>
          <a:p>
            <a:r>
              <a:rPr lang="en-US" dirty="0"/>
              <a:t>Medical Imaging (X-rays, MRI)</a:t>
            </a:r>
          </a:p>
          <a:p>
            <a:r>
              <a:rPr lang="en-US" dirty="0"/>
              <a:t>Satellite Imaging and Remote Sensing</a:t>
            </a:r>
          </a:p>
          <a:p>
            <a:r>
              <a:rPr lang="en-US" dirty="0"/>
              <a:t>Security &amp; Surveillance</a:t>
            </a:r>
          </a:p>
          <a:p>
            <a:r>
              <a:rPr lang="en-US" dirty="0"/>
              <a:t>Machine Vision and Robotics</a:t>
            </a:r>
          </a:p>
          <a:p>
            <a:r>
              <a:rPr lang="en-US" dirty="0"/>
              <a:t>Digital Art &amp; Image Processing 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51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B094-8305-0080-A802-30041AFA3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744"/>
            <a:ext cx="10515600" cy="578721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 +----------------------------+</a:t>
            </a:r>
          </a:p>
          <a:p>
            <a:r>
              <a:rPr lang="en-US" dirty="0"/>
              <a:t>     |         Lens System        |</a:t>
            </a:r>
          </a:p>
          <a:p>
            <a:r>
              <a:rPr lang="en-US" dirty="0"/>
              <a:t>     +-------------+--------------+</a:t>
            </a:r>
          </a:p>
          <a:p>
            <a:r>
              <a:rPr lang="en-US" dirty="0"/>
              <a:t>                   |</a:t>
            </a:r>
          </a:p>
          <a:p>
            <a:r>
              <a:rPr lang="en-US" dirty="0"/>
              <a:t>               [Aperture]</a:t>
            </a:r>
          </a:p>
          <a:p>
            <a:r>
              <a:rPr lang="en-US" dirty="0"/>
              <a:t>                   |</a:t>
            </a:r>
          </a:p>
          <a:p>
            <a:r>
              <a:rPr lang="en-US" dirty="0"/>
              <a:t>               [Shutter]</a:t>
            </a:r>
          </a:p>
          <a:p>
            <a:r>
              <a:rPr lang="en-US" dirty="0"/>
              <a:t>                   |</a:t>
            </a:r>
          </a:p>
          <a:p>
            <a:r>
              <a:rPr lang="en-US" dirty="0"/>
              <a:t>             +-------------+</a:t>
            </a:r>
          </a:p>
          <a:p>
            <a:r>
              <a:rPr lang="en-US" dirty="0"/>
              <a:t>             | Image Sensor|</a:t>
            </a:r>
          </a:p>
          <a:p>
            <a:r>
              <a:rPr lang="en-US" dirty="0"/>
              <a:t>             | (CCD/CMOS)  |</a:t>
            </a:r>
          </a:p>
          <a:p>
            <a:r>
              <a:rPr lang="en-US" dirty="0"/>
              <a:t>             +-------------+</a:t>
            </a:r>
          </a:p>
          <a:p>
            <a:r>
              <a:rPr lang="en-US" dirty="0"/>
              <a:t>                   |</a:t>
            </a:r>
          </a:p>
          <a:p>
            <a:r>
              <a:rPr lang="en-US" dirty="0"/>
              <a:t>               [ADC + DSP]</a:t>
            </a:r>
          </a:p>
          <a:p>
            <a:r>
              <a:rPr lang="en-US" dirty="0"/>
              <a:t>                   |</a:t>
            </a:r>
          </a:p>
          <a:p>
            <a:r>
              <a:rPr lang="en-US" dirty="0"/>
              <a:t>             [Memory Storage]</a:t>
            </a:r>
          </a:p>
          <a:p>
            <a:r>
              <a:rPr lang="en-US" dirty="0"/>
              <a:t>                   |</a:t>
            </a:r>
          </a:p>
          <a:p>
            <a:r>
              <a:rPr lang="en-US" dirty="0"/>
              <a:t>                [Display]</a:t>
            </a:r>
          </a:p>
        </p:txBody>
      </p:sp>
    </p:spTree>
    <p:extLst>
      <p:ext uri="{BB962C8B-B14F-4D97-AF65-F5344CB8AC3E}">
        <p14:creationId xmlns:p14="http://schemas.microsoft.com/office/powerpoint/2010/main" val="377172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656</Words>
  <Application>Microsoft Office PowerPoint</Application>
  <PresentationFormat>Widescreen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Digital Camera, Pixel, and Image Representation</vt:lpstr>
      <vt:lpstr>Introduction </vt:lpstr>
      <vt:lpstr>Working Principle of a Digital Camera</vt:lpstr>
      <vt:lpstr>PowerPoint Presentation</vt:lpstr>
      <vt:lpstr>Components Inside a Digital Camera</vt:lpstr>
      <vt:lpstr>Types of Image Sensors</vt:lpstr>
      <vt:lpstr>Concept of Pixel </vt:lpstr>
      <vt:lpstr>Example (Grayscale Pixel):</vt:lpstr>
      <vt:lpstr>Image Representation in Digital Form</vt:lpstr>
      <vt:lpstr>PowerPoint Presentation</vt:lpstr>
      <vt:lpstr>Image Resolution and Quality</vt:lpstr>
      <vt:lpstr>PowerPoint Presentation</vt:lpstr>
      <vt:lpstr>Summary table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27</cp:revision>
  <dcterms:created xsi:type="dcterms:W3CDTF">2025-10-30T19:21:00Z</dcterms:created>
  <dcterms:modified xsi:type="dcterms:W3CDTF">2025-10-30T19:30:49Z</dcterms:modified>
</cp:coreProperties>
</file>