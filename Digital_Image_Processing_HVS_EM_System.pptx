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6EE9D-66C5-F6B0-133F-ACE7B1210A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521C03-BFE7-3AB1-0D60-F6677EC099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46D0E-CA06-DB8F-B23C-85D558F0D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1B4D0-F03B-22A0-8AEB-30C5390FE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673F2-0ADF-E6B8-7640-104CFF68F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451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107CF-95C0-3EC1-C7FD-A952AE7DD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4D10A-A9ED-C4A9-EF12-41764D03D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AE5D6-E829-1F84-72BC-44D248D87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78C595-F9DF-B7A4-6E89-69AC94D15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8F621-6E51-A96C-D027-E7D272D60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682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548DD-9D99-96DC-F4F2-58D421D97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D93696-D3A5-86C1-A795-24CE7FC39D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1DAB5-974B-97CA-0659-3B0CE5C97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5ECAA-AEC2-D1BF-679C-F40C0B4EA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6E12F-1B6F-49CC-2EAD-FB4DD9BC0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512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8BC32-D289-9C09-D50D-378E2B7AF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65447-8E42-E585-709E-F47E02761B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59AAE8-E2A0-A712-5881-47AEE91409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3BE933-C72B-29F7-333C-DDE0591B0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42BF83-A019-3A69-2D15-F9D600071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07AA48-E9E9-F4C9-5814-B11B6E993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908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4AD40-F20A-E58C-5EB7-72FF81870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C22706-B22B-831B-95F7-817165743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CD8E6A-6091-6B6A-ED85-E9DB0801DD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5EAE0E-F206-2C78-AF01-CF9ACFBF7A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15A6EA-8656-0418-DBC6-26208CF0B6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64F3DE-C490-0443-DB02-3D1614505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99C85A-780E-7DB9-877D-75ADC994F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2EA71C-0D23-2043-EDC2-DDFF66635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69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03582-32C7-93C9-F01C-459E56F57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323A11-F4B1-92EF-C1F5-31E3A0D43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8C1FE5-DFF6-C066-41EC-FE92780BE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E1B7AE-9D52-203B-509E-6C005EEAF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613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7EBCC0-2648-12B5-D0A7-53B5F7B8A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D29E65-01B3-3139-0498-071303843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3F100B-C1B3-BCDD-F150-91CED83E5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822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47E5E-CAB4-AA53-A7F8-194716EFD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D5C31-FAA5-458C-646A-C710F69CB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9D7E4D-1DD2-6562-6376-BF343E052E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3A9AE1-78B3-A865-A35F-3F4B5481E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36FBC3-01BF-3088-62C2-DD1BE0D66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E6DBB1-E577-0761-D9B5-0F540E3A5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815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E9F9B-A03F-C363-3630-A9A33639E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42D725-0A4F-D830-02BE-36AE36ED96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69F518-FED3-2BDC-FC65-D88ED64E51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FB0CAD-7A8A-3E5F-D184-1A1F49A99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EB099F-2C8C-0095-2BC3-9A674DE69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CAEA6D-39D9-4D95-0492-381D03F5E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411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A79AF-7048-5784-76CE-035DD38CE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D1B715-3C3E-C64E-D281-05D4503FE6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D5233C-EA4A-8117-4A3A-BC96DE447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848193-C383-069C-39A1-8DB372E3C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B68E4-CE74-B716-0400-03B1D881C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630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1BF082-B1D2-1DFE-2FB1-A442CFF7FC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84D339-3436-C79F-8AC0-C7A643A9B6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2426E-E71C-614A-FE5E-565674747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35F62-2E5A-CAAE-5F36-49DB35C36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6ECCF-5DF7-4B02-70D6-F266FF2EB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037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D3A28A-FF1A-629C-3467-E7F4F50EE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3518BE-2727-8D58-A948-BE4ACC935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212E3-9CC6-B144-D45E-255CA539A8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A8080-C322-8BD6-C842-67C610EFDC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9D07A-98DC-5576-6DCA-5D3CF27AA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87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34322" y="2958317"/>
            <a:ext cx="10363200" cy="1470025"/>
          </a:xfrm>
        </p:spPr>
        <p:txBody>
          <a:bodyPr>
            <a:normAutofit fontScale="90000"/>
          </a:bodyPr>
          <a:lstStyle/>
          <a:p>
            <a:r>
              <a:rPr dirty="0"/>
              <a:t>Digital Image Processing</a:t>
            </a:r>
            <a:br>
              <a:rPr lang="en-US" dirty="0"/>
            </a:br>
            <a:r>
              <a:rPr lang="en-US" sz="3600" dirty="0"/>
              <a:t>The Human Visual System, Electromagnetic System &amp; Electromagnetic Spectrum</a:t>
            </a:r>
            <a:br>
              <a:rPr lang="en-US" dirty="0"/>
            </a:b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3908" y="4428342"/>
            <a:ext cx="8534400" cy="1470025"/>
          </a:xfrm>
        </p:spPr>
        <p:txBody>
          <a:bodyPr/>
          <a:lstStyle/>
          <a:p>
            <a:r>
              <a:rPr lang="en-US" dirty="0"/>
              <a:t>Lecture 1 </a:t>
            </a:r>
          </a:p>
          <a:p>
            <a:r>
              <a:rPr lang="en-US" dirty="0"/>
              <a:t>Adnan Majeed </a:t>
            </a:r>
          </a:p>
          <a:p>
            <a:r>
              <a:rPr lang="en-US" dirty="0"/>
              <a:t>Lecturer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Digital Image Processing (DIP) involves acquisition, processing, and interpretation of digital images.</a:t>
            </a:r>
          </a:p>
          <a:p>
            <a:r>
              <a:t>Understanding of Human Visual System (HVS), Electromagnetic (EM) System, and Electromagnetic Spectrum is essential.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Human Visual System (HVS)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Biological mechanism for visual perception.</a:t>
            </a:r>
          </a:p>
          <a:p>
            <a:r>
              <a:t>Converts light energy into electrical signals interpreted by the brain.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 of the Human Eye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3194159"/>
              </p:ext>
            </p:extLst>
          </p:nvPr>
        </p:nvGraphicFramePr>
        <p:xfrm>
          <a:off x="1471535" y="2121108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t>Cornea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Transparent layer that refracts incoming light.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t>Pupil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Adjustable opening controlling light entry.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t>Lens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Focuses light onto the retina.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t>Retina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Contains photoreceptor cells (rods and cones).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t>Optic Nerve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Transfers visual signals from retina to brain.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Photoreceptors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7958558"/>
              </p:ext>
            </p:extLst>
          </p:nvPr>
        </p:nvGraphicFramePr>
        <p:xfrm>
          <a:off x="1216702" y="2103120"/>
          <a:ext cx="82296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Sensitivity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Quantity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Rods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 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Perceive intensity (grayscale)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~120 million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Cones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Bright 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Perceive color (RGB)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~6 million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Characteristics of Human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Brightness Adaptation: Operates under wide intensity range.</a:t>
            </a:r>
          </a:p>
          <a:p>
            <a:r>
              <a:t>Color Perception: Based on RGB cone response.</a:t>
            </a:r>
          </a:p>
          <a:p>
            <a:r>
              <a:t>Contrast Sensitivity: Detects differences in brightness.</a:t>
            </a:r>
          </a:p>
          <a:p>
            <a:r>
              <a:t>Spatial Resolution: Ability to distinguish fine details.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Electromagnetic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Refers to the physical phenomena of electromagnetic energy.</a:t>
            </a:r>
          </a:p>
          <a:p>
            <a:r>
              <a:t>Involves electric and magnetic fields that propagate as waves.</a:t>
            </a:r>
          </a:p>
          <a:p>
            <a:r>
              <a:t>Used in all imaging systems like cameras, scanners, and satellites.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Components of the Electromagnetic System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3128672"/>
              </p:ext>
            </p:extLst>
          </p:nvPr>
        </p:nvGraphicFramePr>
        <p:xfrm>
          <a:off x="1726367" y="2217420"/>
          <a:ext cx="82296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Electric Field (E-field)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Produced by stationary or moving electric charges.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dirty="0"/>
                        <a:t>Magnetic Field (H-field)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Produced by moving charges (current).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t>Electromagnetic Wave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Combination of E-field and H-field oscillating perpendicular to each other.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6718"/>
            <a:ext cx="10515600" cy="1325563"/>
          </a:xfrm>
        </p:spPr>
        <p:txBody>
          <a:bodyPr/>
          <a:lstStyle/>
          <a:p>
            <a:r>
              <a:rPr dirty="0"/>
              <a:t>Electromagnetic Spectrum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3363938"/>
              </p:ext>
            </p:extLst>
          </p:nvPr>
        </p:nvGraphicFramePr>
        <p:xfrm>
          <a:off x="1798320" y="1471930"/>
          <a:ext cx="8412480" cy="4606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t>Type of Radiation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Wavelength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Frequency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Applications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t>Gamma Rays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0.01 nm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 10¹⁹ 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Nuclear, medical imaging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t>X-Rays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0.01 – 10 nm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10¹⁷ – 10¹⁹ 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Medical, industrial testing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t>Ultraviolet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 – 400 nm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10¹⁵ – 10¹⁷ 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Sterilization, forensics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t>Visible 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400 – 700 nm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4×10¹⁴ – 7.5×10¹⁴ 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Photography, vision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t>Infrared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700 nm – 1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10¹² – 4×10¹⁴ 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Thermal imaging, sensors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t>Microwaves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mm – 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10⁹ – 10¹² 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Radar, communication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t>Radio Waves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 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10⁹ 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Broadcasting, astronomy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Relationship Between Systems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3049210"/>
              </p:ext>
            </p:extLst>
          </p:nvPr>
        </p:nvGraphicFramePr>
        <p:xfrm>
          <a:off x="1257175" y="1725165"/>
          <a:ext cx="85039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5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5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5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59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t>Concept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Human Visual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Electromagnetic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Electromagnetic Spectrum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Biological 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Physical wave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Range of EM radiation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t>Detector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Eye (rods &amp; cones)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Sensors, antennas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Defined by frequency/wavelength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t>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Limited (400–700 nm)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Covers all EM waves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Categorizes radiation types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t>Relevance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Perception &amp; color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Image 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Imaging across wavelengths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Human Visual System: Biological mechanism for perception.</a:t>
            </a:r>
          </a:p>
          <a:p>
            <a:r>
              <a:t>Electromagnetic System: Physical mechanism of wave propagation.</a:t>
            </a:r>
          </a:p>
          <a:p>
            <a:r>
              <a:t>Electromagnetic Spectrum: Classification of EM radiation for imaging.</a:t>
            </a:r>
          </a:p>
          <a:p>
            <a:r>
              <a:t>All three explain image formation, perception, and processing.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Terms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Rods and Cones – Photoreceptors in retina.</a:t>
            </a:r>
          </a:p>
          <a:p>
            <a:r>
              <a:t>Wavelength – Distance between wave peaks.</a:t>
            </a:r>
          </a:p>
          <a:p>
            <a:r>
              <a:t>Frequency – Oscillations per second.</a:t>
            </a:r>
          </a:p>
          <a:p>
            <a:r>
              <a:t>Electromagnetic Wave – Combined electric and magnetic fields.</a:t>
            </a:r>
          </a:p>
          <a:p>
            <a:r>
              <a:t>Visible Spectrum – 400–700 nm detectable by humans.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Review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1. What is the function of rods and cones in the eye?</a:t>
            </a:r>
          </a:p>
          <a:p>
            <a:r>
              <a:t>2. Define electromagnetic system and its major components.</a:t>
            </a:r>
          </a:p>
          <a:p>
            <a:r>
              <a:t>3. State relationship between wavelength and frequency.</a:t>
            </a:r>
          </a:p>
          <a:p>
            <a:r>
              <a:t>4. List types of electromagnetic radiation used in imaging.</a:t>
            </a:r>
          </a:p>
          <a:p>
            <a:r>
              <a:t>5. Explain how human vision relates to digital image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</TotalTime>
  <Words>580</Words>
  <Application>Microsoft Office PowerPoint</Application>
  <PresentationFormat>Widescreen</PresentationFormat>
  <Paragraphs>132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Digital Image Processing The Human Visual System, Electromagnetic System &amp; Electromagnetic Spectrum </vt:lpstr>
      <vt:lpstr>Introduction</vt:lpstr>
      <vt:lpstr>The Human Visual System (HVS)</vt:lpstr>
      <vt:lpstr>Structure of the Human Eye</vt:lpstr>
      <vt:lpstr>Photoreceptors</vt:lpstr>
      <vt:lpstr>Characteristics of Human Vision</vt:lpstr>
      <vt:lpstr>Electromagnetic System</vt:lpstr>
      <vt:lpstr>Components of the Electromagnetic System</vt:lpstr>
      <vt:lpstr>Electromagnetic Spectrum</vt:lpstr>
      <vt:lpstr>Relationship Between Systems</vt:lpstr>
      <vt:lpstr>Summary</vt:lpstr>
      <vt:lpstr>Key Terms</vt:lpstr>
      <vt:lpstr>Review Questions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Hp</cp:lastModifiedBy>
  <cp:revision>5</cp:revision>
  <dcterms:created xsi:type="dcterms:W3CDTF">2013-01-27T09:14:16Z</dcterms:created>
  <dcterms:modified xsi:type="dcterms:W3CDTF">2025-10-25T10:50:02Z</dcterms:modified>
  <cp:category/>
</cp:coreProperties>
</file>