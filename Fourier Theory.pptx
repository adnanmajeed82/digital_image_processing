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F4B9-B813-8EDA-01CF-DB5A2C476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961E3-6CD8-0364-03AD-A7CF3D239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50DF4-983F-5E5B-3FF8-13DD4D424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722E-3500-4BD6-B35A-21CB6D1EEA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C93AF-4F08-5F72-B330-4A7E4185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0EFA1-801E-CA1F-A5DC-59C0F500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7121A-FC10-4509-9C98-418C0BBD6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51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B9BF-FD24-F77F-61DB-CB2AAA49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115F-9B96-75B8-9304-37218BB13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FEB71-46E3-D368-EFEE-41542B24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722E-3500-4BD6-B35A-21CB6D1EEA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83B1F-E498-208C-D45F-6DC8B981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145EE-A9A2-26AB-E631-7C8C367E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7121A-FC10-4509-9C98-418C0BBD6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94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5103-C48E-FBE5-3000-278C55480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E255D-09BC-04B6-5020-5BAE4FC50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E369F-A192-6FE8-9FC8-00FE08768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722E-3500-4BD6-B35A-21CB6D1EEA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372FB-620C-0B95-693E-7EEEFD471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A3302-A928-A814-A687-DCD58D1B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7121A-FC10-4509-9C98-418C0BBD6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E947D-02B0-B0CF-46EA-06F1C07E9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A22A-6CC1-5F8B-5D12-165F263B7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09D48-E73B-F4A4-C2D7-F3E5C257E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C0B17-08F1-E23C-C32C-1B8EC786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722E-3500-4BD6-B35A-21CB6D1EEA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9DACA-04A2-DB4B-601A-94DE169B6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AD887-2583-177C-A6D7-116E4182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7121A-FC10-4509-9C98-418C0BBD6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E98B7-981D-9411-C77F-24E46BE1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6D410-6DA5-9536-886C-BBFC7B292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FF43F-F1AD-1162-3062-6F9B2C603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424BC-1253-6160-49A0-C82A0EF4E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97290-3408-6124-7F0D-C1E2F779B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AA695A-D600-623E-A63C-4F85ACB0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722E-3500-4BD6-B35A-21CB6D1EEA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24C294-ED89-ABC9-8A01-EE27B462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20EE23-8F3F-45BC-FF51-B5CAD123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7121A-FC10-4509-9C98-418C0BBD6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9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0988-5EF5-2063-5AA7-071C9CC6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4DB81-9EF2-C386-E257-0E0E86267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722E-3500-4BD6-B35A-21CB6D1EEA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F2F95-9D01-52BF-6B60-0A90611C2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E77CD-7CE3-0FC5-FFA1-60B0D0BA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7121A-FC10-4509-9C98-418C0BBD6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7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ADEBA-8F1E-A0DA-5CA4-AA1DA9A7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722E-3500-4BD6-B35A-21CB6D1EEA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7F8F1-7BCB-743D-5DE7-E3566C179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8EEDF-8251-8133-4F9F-A162962D8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7121A-FC10-4509-9C98-418C0BBD6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3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6BCF-F00B-6605-A00B-33AC2619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5CC68-EEDB-6ECF-F5BA-CA679C5B8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9AA0A-0A8D-3E7E-B4BF-DD5709D40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13B17-6ADB-C7C2-EF2E-2090747D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722E-3500-4BD6-B35A-21CB6D1EEA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B76A7-5EC4-C8BB-9C51-7835C8E02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7339F-FC92-16B2-2DC2-DEF63DCB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7121A-FC10-4509-9C98-418C0BBD6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0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EB52-CD28-55CF-4EFA-9E3E00914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7A2E84-6E4E-EDE0-8090-EC5E63583C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627D7-946F-445A-634F-62F3ABFA6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E1991-3A40-F76D-DDE3-B57F7B99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722E-3500-4BD6-B35A-21CB6D1EEA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30EBE-F9E2-CAAA-5A6C-EC8AB844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6DA77-620B-4B20-B375-427658428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7121A-FC10-4509-9C98-418C0BBD6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4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0569F-7AAF-B99B-EE6E-DADAEEBA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71F2A2-89AE-0325-EE01-1EF2F00BB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40DC4-95FE-EFC4-3FC9-0268643C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722E-3500-4BD6-B35A-21CB6D1EEA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F0ECE-87C9-5520-992C-FD957C10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235AF-2D63-42A3-5985-EE090C4C3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7121A-FC10-4509-9C98-418C0BBD6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2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B9328A-D0AF-CFE2-BBFB-F0ECB4060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00288-6D63-F5FE-CBA2-19C589ED2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3C971-ACFF-4388-4571-C115034BE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722E-3500-4BD6-B35A-21CB6D1EEA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2F5A8-7EB7-3765-B131-70E2857F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4CEA8-0743-3D69-D36C-2AF9B1D6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7121A-FC10-4509-9C98-418C0BBD6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1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DE2331-2D74-F64B-8728-B3A63FBC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1F35E-30D2-BA2B-06F4-DDF6B5984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59526-9D4A-889A-76B5-D0FABD5E7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8722E-3500-4BD6-B35A-21CB6D1EEA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6F95-EA1E-02B1-B865-9F4DE0D71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C4AB4-93FD-248B-99B8-489DA4F8C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7121A-FC10-4509-9C98-418C0BBD6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56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355E5-806F-C59E-3C4E-ED4620829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7621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Lecture Notes – BSCS 5th Semester</a:t>
            </a:r>
            <a:br>
              <a:rPr lang="en-US" sz="4400" b="1" dirty="0"/>
            </a:br>
            <a:r>
              <a:rPr lang="en-US" sz="4400" b="1" dirty="0"/>
              <a:t>Course: Digital Image Processing</a:t>
            </a:r>
            <a:br>
              <a:rPr lang="en-US" sz="4400" b="1" dirty="0"/>
            </a:br>
            <a:r>
              <a:rPr lang="en-US" sz="4400" b="1" dirty="0"/>
              <a:t>Instructor: Adnan Majeed</a:t>
            </a:r>
            <a:br>
              <a:rPr lang="en-US" sz="4400" b="1" dirty="0"/>
            </a:br>
            <a:r>
              <a:rPr lang="en-US" sz="4400" b="1" dirty="0"/>
              <a:t>Topic: Fourier Theory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964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4041-E531-8199-7843-54FF77EE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75188-2FD9-3F97-FC36-66EBDF643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Introduction</a:t>
            </a:r>
          </a:p>
          <a:p>
            <a:r>
              <a:rPr lang="en-US" b="1" dirty="0"/>
              <a:t>Fourier Theory</a:t>
            </a:r>
            <a:r>
              <a:rPr lang="en-US" dirty="0"/>
              <a:t> is a cornerstone of </a:t>
            </a:r>
            <a:r>
              <a:rPr lang="en-US" b="1" dirty="0"/>
              <a:t>signal and image processing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allows us to </a:t>
            </a:r>
            <a:r>
              <a:rPr lang="en-US" b="1" dirty="0"/>
              <a:t>represent any signal (or image) as a sum of sinusoidal functions</a:t>
            </a:r>
            <a:r>
              <a:rPr lang="en-US" dirty="0"/>
              <a:t> (sines and cosines).</a:t>
            </a:r>
          </a:p>
          <a:p>
            <a:r>
              <a:rPr lang="en-US" dirty="0"/>
              <a:t>In digital image processing, </a:t>
            </a:r>
            <a:r>
              <a:rPr lang="en-US" b="1" dirty="0"/>
              <a:t>Fourier Transform (FT)</a:t>
            </a:r>
            <a:r>
              <a:rPr lang="en-US" dirty="0"/>
              <a:t> is used to </a:t>
            </a:r>
            <a:r>
              <a:rPr lang="en-US" b="1" dirty="0"/>
              <a:t>analyze the frequency content</a:t>
            </a:r>
            <a:r>
              <a:rPr lang="en-US" dirty="0"/>
              <a:t> of images.</a:t>
            </a:r>
          </a:p>
          <a:p>
            <a:r>
              <a:rPr lang="en-US" dirty="0"/>
              <a:t>It is essential for </a:t>
            </a:r>
            <a:r>
              <a:rPr lang="en-US" b="1" dirty="0"/>
              <a:t>filtering, compression, image enhancement, and reconstruction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857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1F658-DCE9-FE7B-53D0-AE2901745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D478C-4617-4B97-F0EF-0D05A11BA6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2. Concept</a:t>
                </a:r>
              </a:p>
              <a:p>
                <a:r>
                  <a:rPr lang="en-US" b="1" dirty="0"/>
                  <a:t>2.1 Time (or Spatial) Domain vs Frequency Domain</a:t>
                </a:r>
              </a:p>
              <a:p>
                <a:r>
                  <a:rPr lang="en-US" b="1" dirty="0"/>
                  <a:t>Spatial domain:</a:t>
                </a:r>
                <a:r>
                  <a:rPr lang="en-US" dirty="0"/>
                  <a:t> Image represented as intensity values </a:t>
                </a:r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at each pixel.</a:t>
                </a:r>
              </a:p>
              <a:p>
                <a:r>
                  <a:rPr lang="en-US" b="1" dirty="0"/>
                  <a:t>Frequency domain:</a:t>
                </a:r>
                <a:r>
                  <a:rPr lang="en-US" dirty="0"/>
                  <a:t> Image represented as a combination of </a:t>
                </a:r>
                <a:r>
                  <a:rPr lang="en-US" b="1" dirty="0"/>
                  <a:t>sine and cosine functions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Fourier theory bridges the gap: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ar-AE" i="1"/>
                        </m:ctrlPr>
                      </m:groupChrPr>
                      <m:e>
                        <m:box>
                          <m:boxPr>
                            <m:ctrlPr>
                              <a:rPr lang="ar-AE" i="1"/>
                            </m:ctrlPr>
                          </m:boxPr>
                          <m:e>
                            <m:r>
                              <m:rPr>
                                <m:nor/>
                              </m:rPr>
                              <a:rPr lang="en-US" i="1"/>
                              <m:t>Fourier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Transform</m:t>
                            </m:r>
                          </m:e>
                        </m:box>
                      </m:e>
                    </m:groupChr>
                    <m:r>
                      <a:rPr lang="ar-AE" i="1"/>
                      <m:t>𝐹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𝑣</m:t>
                        </m:r>
                      </m:e>
                    </m:d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D478C-4617-4B97-F0EF-0D05A11BA6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800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2530-624A-4CAC-6C2F-94F8541A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148A0B-40C8-497E-3C9E-CA2C73369E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US" dirty="0"/>
                  <a:t>spatial domain image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𝐹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𝑣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US" dirty="0"/>
                  <a:t>frequency domain representation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148A0B-40C8-497E-3C9E-CA2C73369E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360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C6E6B-E61A-C3AE-7625-720ADED85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F9A55-5CF5-5709-A7BA-4910675FD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2.2 Why Fourier Theory?</a:t>
            </a:r>
          </a:p>
          <a:p>
            <a:r>
              <a:rPr lang="en-US" dirty="0"/>
              <a:t>Detect </a:t>
            </a:r>
            <a:r>
              <a:rPr lang="en-US" b="1" dirty="0"/>
              <a:t>periodic patterns</a:t>
            </a:r>
            <a:r>
              <a:rPr lang="en-US" dirty="0"/>
              <a:t> in images</a:t>
            </a:r>
          </a:p>
          <a:p>
            <a:r>
              <a:rPr lang="en-US" dirty="0"/>
              <a:t>Filter </a:t>
            </a:r>
            <a:r>
              <a:rPr lang="en-US" b="1" dirty="0"/>
              <a:t>noise</a:t>
            </a:r>
            <a:r>
              <a:rPr lang="en-US" dirty="0"/>
              <a:t> using high-pass or low-pass filters</a:t>
            </a:r>
          </a:p>
          <a:p>
            <a:r>
              <a:rPr lang="en-US" dirty="0"/>
              <a:t>Compress images efficiently</a:t>
            </a:r>
          </a:p>
          <a:p>
            <a:r>
              <a:rPr lang="en-US" dirty="0"/>
              <a:t>Analyze </a:t>
            </a:r>
            <a:r>
              <a:rPr lang="en-US" b="1" dirty="0"/>
              <a:t>edges and textures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71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FBE8-63FF-D644-8AE3-BACE69FF0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E53000-D653-5FB7-33CB-5FDA3B6D81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 Fourier Transform Formulas</a:t>
                </a:r>
              </a:p>
              <a:p>
                <a:r>
                  <a:rPr lang="en-US" b="1" dirty="0"/>
                  <a:t>3.1 Continuous Fourier Transform (CFT)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𝐹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𝑣</m:t>
                        </m:r>
                      </m:e>
                    </m:d>
                    <m:r>
                      <a:rPr lang="ar-AE"/>
                      <m:t>=∫−</m:t>
                    </m:r>
                    <m:r>
                      <a:rPr lang="ar-AE"/>
                      <m:t>∞</m:t>
                    </m:r>
                    <m:nary>
                      <m:naryPr>
                        <m:chr m:val="∞"/>
                        <m:limLoc m:val="subSup"/>
                        <m:grow m:val="on"/>
                        <m:ctrlPr>
                          <a:rPr lang="ar-AE" i="1"/>
                        </m:ctrlPr>
                      </m:naryPr>
                      <m:sub>
                        <m:r>
                          <a:rPr lang="ar-AE"/>
                          <m:t>∫</m:t>
                        </m:r>
                      </m:sub>
                      <m:sup>
                        <m:r>
                          <a:rPr lang="ar-AE"/>
                          <m:t>−</m:t>
                        </m:r>
                        <m:r>
                          <a:rPr lang="ar-AE"/>
                          <m:t>∞</m:t>
                        </m:r>
                      </m:sup>
                      <m:e>
                        <m:r>
                          <a:rPr lang="ar-AE"/>
                          <m:t>∞</m:t>
                        </m:r>
                      </m:e>
                    </m:nary>
                    <m:r>
                      <a:rPr lang="ar-AE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i="1"/>
                          <m:t>𝑒</m:t>
                        </m:r>
                      </m:e>
                      <m:sup>
                        <m:r>
                          <a:rPr lang="ar-AE"/>
                          <m:t>−</m:t>
                        </m:r>
                        <m:r>
                          <a:rPr lang="ar-AE" i="1"/>
                          <m:t>𝑗</m:t>
                        </m:r>
                        <m:r>
                          <a:rPr lang="ar-AE"/>
                          <m:t>2</m:t>
                        </m:r>
                        <m:r>
                          <a:rPr lang="ar-AE" i="1"/>
                          <m:t>𝜋</m:t>
                        </m:r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 i="1"/>
                              <m:t>𝑢𝑥</m:t>
                            </m:r>
                            <m:r>
                              <a:rPr lang="ar-AE"/>
                              <m:t>+</m:t>
                            </m:r>
                            <m:r>
                              <a:rPr lang="ar-AE" i="1"/>
                              <m:t>𝑣𝑦</m:t>
                            </m:r>
                          </m:e>
                        </m:d>
                      </m:sup>
                    </m:sSup>
                    <m:r>
                      <a:rPr lang="ar-AE" i="1"/>
                      <m:t>𝑑𝑥𝑑𝑦</m:t>
                    </m:r>
                  </m:oMath>
                </a14:m>
                <a:endParaRPr lang="ar-AE" dirty="0"/>
              </a:p>
              <a:p>
                <a:r>
                  <a:rPr lang="en-US" dirty="0"/>
                  <a:t>Inverse Fourier Transform (IFT):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  <m:r>
                      <a:rPr lang="ar-AE"/>
                      <m:t>=∫−</m:t>
                    </m:r>
                    <m:r>
                      <a:rPr lang="ar-AE"/>
                      <m:t>∞</m:t>
                    </m:r>
                    <m:nary>
                      <m:naryPr>
                        <m:chr m:val="∞"/>
                        <m:limLoc m:val="subSup"/>
                        <m:grow m:val="on"/>
                        <m:ctrlPr>
                          <a:rPr lang="ar-AE" i="1"/>
                        </m:ctrlPr>
                      </m:naryPr>
                      <m:sub>
                        <m:r>
                          <a:rPr lang="ar-AE"/>
                          <m:t>∫</m:t>
                        </m:r>
                      </m:sub>
                      <m:sup>
                        <m:r>
                          <a:rPr lang="ar-AE"/>
                          <m:t>−</m:t>
                        </m:r>
                        <m:r>
                          <a:rPr lang="ar-AE"/>
                          <m:t>∞</m:t>
                        </m:r>
                      </m:sup>
                      <m:e>
                        <m:r>
                          <a:rPr lang="ar-AE"/>
                          <m:t>∞</m:t>
                        </m:r>
                      </m:e>
                    </m:nary>
                    <m:r>
                      <a:rPr lang="ar-AE" i="1"/>
                      <m:t>𝐹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𝑣</m:t>
                        </m:r>
                      </m:e>
                    </m:d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i="1"/>
                          <m:t>𝑒</m:t>
                        </m:r>
                      </m:e>
                      <m:sup>
                        <m:r>
                          <a:rPr lang="ar-AE" i="1"/>
                          <m:t>𝑗</m:t>
                        </m:r>
                        <m:r>
                          <a:rPr lang="ar-AE"/>
                          <m:t>2</m:t>
                        </m:r>
                        <m:r>
                          <a:rPr lang="ar-AE" i="1"/>
                          <m:t>𝜋</m:t>
                        </m:r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 i="1"/>
                              <m:t>𝑢𝑥</m:t>
                            </m:r>
                            <m:r>
                              <a:rPr lang="ar-AE"/>
                              <m:t>+</m:t>
                            </m:r>
                            <m:r>
                              <a:rPr lang="ar-AE" i="1"/>
                              <m:t>𝑣𝑦</m:t>
                            </m:r>
                          </m:e>
                        </m:d>
                      </m:sup>
                    </m:sSup>
                    <m:r>
                      <a:rPr lang="ar-AE" i="1"/>
                      <m:t>𝑑𝑢𝑑𝑣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E53000-D653-5FB7-33CB-5FDA3B6D81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255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3049B-B704-CA30-F5D7-08333B8A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B50E7-2CD8-8527-051C-B115E7DAC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3.2 Discrete Fourier Transform (DFT)</a:t>
            </a:r>
          </a:p>
          <a:p>
            <a:r>
              <a:rPr lang="en-US" dirty="0"/>
              <a:t>For digital images (size M×N):</a:t>
            </a:r>
          </a:p>
          <a:p>
            <a:r>
              <a:rPr lang="en-US" dirty="0"/>
              <a:t>Inverse DFT: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E0E88-8FD1-4CE4-97BC-432481C1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45" y="3429000"/>
            <a:ext cx="7078063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47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CD68-D210-D21C-6D8D-C935FFBDE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E24966-55B0-3F75-63CC-C14720349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5861" y="1952842"/>
            <a:ext cx="8077668" cy="335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B4BC2-8FDF-85EF-904B-7D5FB6D0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CF575C-B766-D5DC-445D-6C6B42AA5B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3.3 Fast Fourier Transform (FFT)</a:t>
                </a:r>
              </a:p>
              <a:p>
                <a:r>
                  <a:rPr lang="en-US" dirty="0"/>
                  <a:t>Efficient algorithm to compute DFT.</a:t>
                </a:r>
              </a:p>
              <a:p>
                <a:r>
                  <a:rPr lang="en-US" dirty="0"/>
                  <a:t>Reduces computation from </a:t>
                </a:r>
                <a14:m>
                  <m:oMath xmlns:m="http://schemas.openxmlformats.org/officeDocument/2006/math">
                    <m:r>
                      <a:rPr lang="en-US" i="1"/>
                      <m:t>𝑂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𝑁</m:t>
                            </m:r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i="1"/>
                      <m:t>𝑂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𝑁</m:t>
                        </m:r>
                        <m:func>
                          <m:funcPr>
                            <m:ctrlPr>
                              <a:rPr lang="ar-AE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fName>
                          <m:e>
                            <m:r>
                              <a:rPr lang="ar-AE" i="1"/>
                              <m:t>𝑁</m:t>
                            </m:r>
                          </m:e>
                        </m:func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r>
                  <a:rPr lang="en-US" dirty="0"/>
                  <a:t>Widely used in </a:t>
                </a:r>
                <a:r>
                  <a:rPr lang="en-US" b="1" dirty="0"/>
                  <a:t>digital image processing software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CF575C-B766-D5DC-445D-6C6B42AA5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892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C6CD6-B49C-235A-B3ED-5CDA83DF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56D01B-EC9E-E9B0-A5BC-404D0959AF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Frequency Domain Representation</a:t>
                </a:r>
              </a:p>
              <a:p>
                <a:r>
                  <a:rPr lang="en-US" dirty="0"/>
                  <a:t>Each point in </a:t>
                </a:r>
                <a14:m>
                  <m:oMath xmlns:m="http://schemas.openxmlformats.org/officeDocument/2006/math">
                    <m:r>
                      <a:rPr lang="en-US" i="1"/>
                      <m:t>𝐹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represents:</a:t>
                </a:r>
              </a:p>
              <a:p>
                <a:pPr lvl="1"/>
                <a:r>
                  <a:rPr lang="en-US" b="1" dirty="0"/>
                  <a:t>Magnitude</a:t>
                </a:r>
                <a:r>
                  <a:rPr lang="en-US" dirty="0"/>
                  <a:t> = strength of that frequency</a:t>
                </a:r>
              </a:p>
              <a:p>
                <a:pPr lvl="1"/>
                <a:r>
                  <a:rPr lang="en-US" b="1" dirty="0"/>
                  <a:t>Phase</a:t>
                </a:r>
                <a:r>
                  <a:rPr lang="en-US" dirty="0"/>
                  <a:t> = position of the frequency component</a:t>
                </a:r>
              </a:p>
              <a:p>
                <a:r>
                  <a:rPr lang="en-US" b="1" dirty="0"/>
                  <a:t>Magnitude Spectrum:</a:t>
                </a:r>
                <a:r>
                  <a:rPr lang="en-US" dirty="0"/>
                  <a:t> Visual representation of frequencies:</a:t>
                </a:r>
              </a:p>
              <a:p>
                <a14:m>
                  <m:oMath xmlns:m="http://schemas.openxmlformats.org/officeDocument/2006/math">
                    <m:r>
                      <a:rPr lang="en-US"/>
                      <m:t>∣</m:t>
                    </m:r>
                    <m:r>
                      <a:rPr lang="en-US" i="1"/>
                      <m:t>𝐹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𝑣</m:t>
                        </m:r>
                      </m:e>
                    </m:d>
                    <m:r>
                      <a:rPr lang="ar-AE"/>
                      <m:t>∣=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i="1"/>
                          <m:t>Re</m:t>
                        </m:r>
                        <m:d>
                          <m:dPr>
                            <m:endChr m:val=""/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 i="1"/>
                              <m:t>𝐹</m:t>
                            </m:r>
                            <m:sSup>
                              <m:sSupPr>
                                <m:ctrlPr>
                                  <a:rPr lang="ar-AE" i="1"/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i="1"/>
                                    </m:ctrlPr>
                                  </m:dPr>
                                  <m:e>
                                    <m:r>
                                      <a:rPr lang="ar-AE"/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/>
                                  <m:t>2</m:t>
                                </m:r>
                              </m:sup>
                            </m:sSup>
                            <m:r>
                              <a:rPr lang="ar-AE"/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Im</m:t>
                            </m:r>
                            <m:d>
                              <m:dPr>
                                <m:endChr m:val=""/>
                                <m:ctrlPr>
                                  <a:rPr lang="ar-AE" i="1"/>
                                </m:ctrlPr>
                              </m:dPr>
                              <m:e>
                                <m:r>
                                  <a:rPr lang="ar-AE" i="1"/>
                                  <m:t>𝐹</m:t>
                                </m:r>
                                <m:sSup>
                                  <m:sSupPr>
                                    <m:ctrlPr>
                                      <a:rPr lang="ar-AE" i="1"/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/>
                                        </m:ctrlPr>
                                      </m:dPr>
                                      <m:e>
                                        <m:r>
                                          <a:rPr lang="ar-AE"/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ar-AE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rad>
                  </m:oMath>
                </a14:m>
                <a:endParaRPr lang="ar-AE" b="0" dirty="0"/>
              </a:p>
              <a:p>
                <a:r>
                  <a:rPr lang="en-US" b="1" dirty="0"/>
                  <a:t>Phase Spectrum:</a:t>
                </a:r>
                <a:r>
                  <a:rPr lang="en-US" dirty="0"/>
                  <a:t> Carries edge and position information: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Phase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b="0" i="1"/>
                          <m:t>𝑢</m:t>
                        </m:r>
                      </m:e>
                      <m:e>
                        <m:r>
                          <a:rPr lang="ar-AE" b="0" i="1"/>
                          <m:t>𝑣</m:t>
                        </m:r>
                      </m:e>
                    </m:d>
                    <m:r>
                      <a:rPr lang="ar-AE"/>
                      <m:t>=</m:t>
                    </m:r>
                    <m:func>
                      <m:funcPr>
                        <m:ctrlPr>
                          <a:rPr lang="ar-AE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f>
                              <m:fPr>
                                <m:ctrlPr>
                                  <a:rPr lang="ar-AE" i="1"/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1"/>
                                  <m:t>Im</m:t>
                                </m:r>
                                <m:d>
                                  <m:dPr>
                                    <m:ctrlPr>
                                      <a:rPr lang="ar-AE" i="1"/>
                                    </m:ctrlPr>
                                  </m:dPr>
                                  <m:e>
                                    <m:r>
                                      <a:rPr lang="ar-AE" i="1"/>
                                      <m:t>𝐹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i="1"/>
                                  <m:t>Re</m:t>
                                </m:r>
                                <m:d>
                                  <m:dPr>
                                    <m:ctrlPr>
                                      <a:rPr lang="ar-AE" i="1"/>
                                    </m:ctrlPr>
                                  </m:dPr>
                                  <m:e>
                                    <m:r>
                                      <a:rPr lang="ar-AE" i="1"/>
                                      <m:t>𝐹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56D01B-EC9E-E9B0-A5BC-404D0959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115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E84A-3512-6B6B-DCB9-CC3B262CF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71471A-D1DE-3356-911E-0999DF968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b="1" dirty="0"/>
                  <a:t>5. Steps for Fourier Transform in Digital Image Processing</a:t>
                </a:r>
              </a:p>
              <a:p>
                <a:r>
                  <a:rPr lang="en-US" b="1" dirty="0"/>
                  <a:t>Step 1: Read the grayscale image</a:t>
                </a:r>
              </a:p>
              <a:p>
                <a:r>
                  <a:rPr lang="en-US" dirty="0"/>
                  <a:t>Convert RGB image to grayscale (if necessary).</a:t>
                </a:r>
              </a:p>
              <a:p>
                <a:r>
                  <a:rPr lang="en-US" b="1" dirty="0"/>
                  <a:t>Step 2: Apply Fourier Transform</a:t>
                </a:r>
              </a:p>
              <a:p>
                <a:r>
                  <a:rPr lang="en-US" dirty="0"/>
                  <a:t>Compute DFT using formula or software function (e.g., fft2 in MATLAB, np.fft.fft2 in Python).</a:t>
                </a:r>
              </a:p>
              <a:p>
                <a:r>
                  <a:rPr lang="en-US" b="1" dirty="0"/>
                  <a:t>Step 3: Shift the zero frequency component to the center</a:t>
                </a:r>
              </a:p>
              <a:p>
                <a:r>
                  <a:rPr lang="en-US" dirty="0"/>
                  <a:t>Use </a:t>
                </a:r>
                <a:r>
                  <a:rPr lang="en-US" b="1" dirty="0" err="1"/>
                  <a:t>fftshift</a:t>
                </a:r>
                <a:r>
                  <a:rPr lang="en-US" dirty="0"/>
                  <a:t> to visualize low frequencies in the center.</a:t>
                </a:r>
              </a:p>
              <a:p>
                <a:r>
                  <a:rPr lang="en-US" b="1" dirty="0"/>
                  <a:t>Step 4: Compute magnitude and phase</a:t>
                </a:r>
              </a:p>
              <a:p>
                <a:r>
                  <a:rPr lang="en-US" dirty="0"/>
                  <a:t>Magnitude spectrum: </a:t>
                </a:r>
                <a14:m>
                  <m:oMath xmlns:m="http://schemas.openxmlformats.org/officeDocument/2006/math">
                    <m:r>
                      <a:rPr lang="en-US"/>
                      <m:t>∣</m:t>
                    </m:r>
                    <m:r>
                      <a:rPr lang="en-US" i="1"/>
                      <m:t>𝐹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𝑣</m:t>
                        </m:r>
                      </m:e>
                    </m:d>
                    <m:r>
                      <a:rPr lang="ar-AE"/>
                      <m:t>∣</m:t>
                    </m:r>
                  </m:oMath>
                </a14:m>
                <a:endParaRPr lang="ar-AE" dirty="0"/>
              </a:p>
              <a:p>
                <a:r>
                  <a:rPr lang="en-US" dirty="0"/>
                  <a:t>Phase spectrum: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angle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b="0" i="1"/>
                          <m:t>𝐹</m:t>
                        </m:r>
                        <m:d>
                          <m:dPr>
                            <m:sepChr m:val=","/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 b="0" i="1"/>
                              <m:t>𝑢</m:t>
                            </m:r>
                          </m:e>
                          <m:e>
                            <m:r>
                              <a:rPr lang="ar-AE" b="0" i="1"/>
                              <m:t>𝑣</m:t>
                            </m:r>
                          </m:e>
                        </m:d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71471A-D1DE-3356-911E-0999DF968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b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434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9AAF5-772B-4624-01D6-4F8A54BD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BCB12-65BB-4B6E-C52C-40E8F152A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5: Apply filters (optional)</a:t>
            </a:r>
          </a:p>
          <a:p>
            <a:r>
              <a:rPr lang="en-US" dirty="0"/>
              <a:t>Low-pass filter (smooths image, removes high-frequency noise)</a:t>
            </a:r>
          </a:p>
          <a:p>
            <a:r>
              <a:rPr lang="en-US" dirty="0"/>
              <a:t>High-pass filter (enhances edges, removes low-frequency background)</a:t>
            </a:r>
          </a:p>
          <a:p>
            <a:r>
              <a:rPr lang="en-US" b="1" dirty="0"/>
              <a:t>Step 6: Apply Inverse Fourier Transform</a:t>
            </a:r>
          </a:p>
          <a:p>
            <a:r>
              <a:rPr lang="en-US" dirty="0"/>
              <a:t>Recover spatial domain image from frequency domain using IFFT (ifft2).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018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36DAA-064F-EE92-BD6F-30D60EF8B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4A1D8-B26E-B2E7-E649-C2D46D3E4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import cv2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from matplotlib import </a:t>
            </a:r>
            <a:r>
              <a:rPr lang="en-US" dirty="0" err="1"/>
              <a:t>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endParaRPr lang="en-US" dirty="0"/>
          </a:p>
          <a:p>
            <a:r>
              <a:rPr lang="en-US" dirty="0"/>
              <a:t># Step 1: Load grayscale image</a:t>
            </a:r>
          </a:p>
          <a:p>
            <a:r>
              <a:rPr lang="en-US" dirty="0" err="1"/>
              <a:t>img</a:t>
            </a:r>
            <a:r>
              <a:rPr lang="en-US" dirty="0"/>
              <a:t> = cv2.imread('input.jpg', 0)</a:t>
            </a:r>
          </a:p>
          <a:p>
            <a:endParaRPr lang="en-US" dirty="0"/>
          </a:p>
          <a:p>
            <a:r>
              <a:rPr lang="en-US" dirty="0"/>
              <a:t># Step 2: Compute FFT</a:t>
            </a:r>
          </a:p>
          <a:p>
            <a:r>
              <a:rPr lang="en-US" dirty="0"/>
              <a:t>f = np.fft.fft2(</a:t>
            </a:r>
            <a:r>
              <a:rPr lang="en-US" dirty="0" err="1"/>
              <a:t>img</a:t>
            </a:r>
            <a:r>
              <a:rPr lang="en-US" dirty="0"/>
              <a:t>)</a:t>
            </a:r>
          </a:p>
          <a:p>
            <a:r>
              <a:rPr lang="en-US" dirty="0" err="1"/>
              <a:t>fshift</a:t>
            </a:r>
            <a:r>
              <a:rPr lang="en-US" dirty="0"/>
              <a:t> = </a:t>
            </a:r>
            <a:r>
              <a:rPr lang="en-US" dirty="0" err="1"/>
              <a:t>np.fft.fftshift</a:t>
            </a:r>
            <a:r>
              <a:rPr lang="en-US" dirty="0"/>
              <a:t>(f)</a:t>
            </a:r>
          </a:p>
          <a:p>
            <a:endParaRPr lang="en-US" dirty="0"/>
          </a:p>
          <a:p>
            <a:r>
              <a:rPr lang="en-US" dirty="0"/>
              <a:t># Step 3: Magnitude Spectrum</a:t>
            </a:r>
          </a:p>
          <a:p>
            <a:r>
              <a:rPr lang="en-US" dirty="0" err="1"/>
              <a:t>magnitude_spectrum</a:t>
            </a:r>
            <a:r>
              <a:rPr lang="en-US" dirty="0"/>
              <a:t> = 20*np.log(</a:t>
            </a:r>
            <a:r>
              <a:rPr lang="en-US" dirty="0" err="1"/>
              <a:t>np.abs</a:t>
            </a:r>
            <a:r>
              <a:rPr lang="en-US" dirty="0"/>
              <a:t>(</a:t>
            </a:r>
            <a:r>
              <a:rPr lang="en-US" dirty="0" err="1"/>
              <a:t>fshift</a:t>
            </a:r>
            <a:r>
              <a:rPr lang="en-US" dirty="0"/>
              <a:t>))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268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43FB6-61AF-F4A2-3629-051E0B73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D2E26-B266-1131-C8C9-30038C742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Step 4: Display</a:t>
            </a:r>
          </a:p>
          <a:p>
            <a:r>
              <a:rPr lang="en-US" dirty="0" err="1"/>
              <a:t>plt.subplot</a:t>
            </a:r>
            <a:r>
              <a:rPr lang="en-US" dirty="0"/>
              <a:t>(121), </a:t>
            </a:r>
            <a:r>
              <a:rPr lang="en-US" dirty="0" err="1"/>
              <a:t>plt.imshow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</a:t>
            </a:r>
            <a:r>
              <a:rPr lang="en-US" dirty="0" err="1"/>
              <a:t>cmap</a:t>
            </a:r>
            <a:r>
              <a:rPr lang="en-US" dirty="0"/>
              <a:t>='gray')</a:t>
            </a:r>
          </a:p>
          <a:p>
            <a:r>
              <a:rPr lang="en-US" dirty="0" err="1"/>
              <a:t>plt.title</a:t>
            </a:r>
            <a:r>
              <a:rPr lang="en-US" dirty="0"/>
              <a:t>('Original Image')</a:t>
            </a:r>
          </a:p>
          <a:p>
            <a:r>
              <a:rPr lang="en-US" dirty="0" err="1"/>
              <a:t>plt.subplot</a:t>
            </a:r>
            <a:r>
              <a:rPr lang="en-US" dirty="0"/>
              <a:t>(122), </a:t>
            </a:r>
            <a:r>
              <a:rPr lang="en-US" dirty="0" err="1"/>
              <a:t>plt.imshow</a:t>
            </a:r>
            <a:r>
              <a:rPr lang="en-US" dirty="0"/>
              <a:t>(</a:t>
            </a:r>
            <a:r>
              <a:rPr lang="en-US" dirty="0" err="1"/>
              <a:t>magnitude_spectrum</a:t>
            </a:r>
            <a:r>
              <a:rPr lang="en-US" dirty="0"/>
              <a:t>, </a:t>
            </a:r>
            <a:r>
              <a:rPr lang="en-US" dirty="0" err="1"/>
              <a:t>cmap</a:t>
            </a:r>
            <a:r>
              <a:rPr lang="en-US" dirty="0"/>
              <a:t>='gray')</a:t>
            </a:r>
          </a:p>
          <a:p>
            <a:r>
              <a:rPr lang="en-US" dirty="0" err="1"/>
              <a:t>plt.title</a:t>
            </a:r>
            <a:r>
              <a:rPr lang="en-US" dirty="0"/>
              <a:t>('Magnitude Spectrum')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278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103C-4A7B-4148-7423-DFB438C1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3D7A8-8DF2-2F66-74A3-DD99B5239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Applications of Fourier Theory in Image Processing</a:t>
            </a:r>
          </a:p>
          <a:p>
            <a:r>
              <a:rPr lang="en-US" b="1" dirty="0"/>
              <a:t>Image Filtering:</a:t>
            </a:r>
            <a:r>
              <a:rPr lang="en-US" dirty="0"/>
              <a:t> Low-pass, high-pass, band-pass filters.</a:t>
            </a:r>
          </a:p>
          <a:p>
            <a:r>
              <a:rPr lang="en-US" b="1" dirty="0"/>
              <a:t>Image Compression:</a:t>
            </a:r>
            <a:r>
              <a:rPr lang="en-US" dirty="0"/>
              <a:t> JPEG uses </a:t>
            </a:r>
            <a:r>
              <a:rPr lang="en-US" b="1" dirty="0"/>
              <a:t>Discrete Cosine Transform (DCT)</a:t>
            </a:r>
            <a:r>
              <a:rPr lang="en-US" dirty="0"/>
              <a:t> (related to Fourier Transform).</a:t>
            </a:r>
          </a:p>
          <a:p>
            <a:r>
              <a:rPr lang="en-US" b="1" dirty="0"/>
              <a:t>Edge Detection:</a:t>
            </a:r>
            <a:r>
              <a:rPr lang="en-US" dirty="0"/>
              <a:t> Using high-pass filtering in frequency domain.</a:t>
            </a:r>
          </a:p>
          <a:p>
            <a:r>
              <a:rPr lang="en-US" b="1" dirty="0"/>
              <a:t>Pattern Recognition:</a:t>
            </a:r>
            <a:r>
              <a:rPr lang="en-US" dirty="0"/>
              <a:t> Analyze frequency components for repetitive patterns.</a:t>
            </a:r>
          </a:p>
          <a:p>
            <a:r>
              <a:rPr lang="en-US" b="1" dirty="0"/>
              <a:t>Image Restoration:</a:t>
            </a:r>
            <a:r>
              <a:rPr lang="en-US" dirty="0"/>
              <a:t> Remove periodic noise in images.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56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DB15-BF8E-A14C-5B65-B223347C3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A87CE-CC0D-BE80-974D-09FB0CC4C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8. Advantages of Fourier Analysis</a:t>
            </a:r>
          </a:p>
          <a:p>
            <a:r>
              <a:rPr lang="en-US" dirty="0"/>
              <a:t>Provides </a:t>
            </a:r>
            <a:r>
              <a:rPr lang="en-US" b="1" dirty="0"/>
              <a:t>global frequency information</a:t>
            </a:r>
            <a:endParaRPr lang="en-US" dirty="0"/>
          </a:p>
          <a:p>
            <a:r>
              <a:rPr lang="en-US" dirty="0"/>
              <a:t>Useful for </a:t>
            </a:r>
            <a:r>
              <a:rPr lang="en-US" b="1" dirty="0"/>
              <a:t>linear filtering</a:t>
            </a:r>
            <a:endParaRPr lang="en-US" dirty="0"/>
          </a:p>
          <a:p>
            <a:r>
              <a:rPr lang="en-US" dirty="0"/>
              <a:t>Can analyze </a:t>
            </a:r>
            <a:r>
              <a:rPr lang="en-US" b="1" dirty="0"/>
              <a:t>periodic patterns</a:t>
            </a:r>
            <a:r>
              <a:rPr lang="en-US" dirty="0"/>
              <a:t> and </a:t>
            </a:r>
            <a:r>
              <a:rPr lang="en-US" b="1" dirty="0"/>
              <a:t>texture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979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04DB-C4B8-2624-1558-3A06AE18E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0AD55-7E03-0C8C-78AD-F975CC931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9. Limitations</a:t>
            </a:r>
          </a:p>
          <a:p>
            <a:r>
              <a:rPr lang="en-US" dirty="0"/>
              <a:t>Phase information is critical for reconstruction; losing phase can distort the image.</a:t>
            </a:r>
          </a:p>
          <a:p>
            <a:r>
              <a:rPr lang="en-US" dirty="0"/>
              <a:t>High computation for large images (addressed using FFT).</a:t>
            </a:r>
          </a:p>
          <a:p>
            <a:r>
              <a:rPr lang="en-US" dirty="0"/>
              <a:t>Not suitable for </a:t>
            </a:r>
            <a:r>
              <a:rPr lang="en-US" b="1" dirty="0"/>
              <a:t>localized features</a:t>
            </a:r>
            <a:r>
              <a:rPr lang="en-US" dirty="0"/>
              <a:t>, for which </a:t>
            </a:r>
            <a:r>
              <a:rPr lang="en-US" b="1" dirty="0"/>
              <a:t>Wavelet Transform</a:t>
            </a:r>
            <a:r>
              <a:rPr lang="en-US" dirty="0"/>
              <a:t> is preferred.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556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B87C-8564-0216-C1E6-E2B9B516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442C5-E37F-7051-7F66-8586593C9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10. Lab/Assignment Tasks</a:t>
            </a:r>
          </a:p>
          <a:p>
            <a:r>
              <a:rPr lang="en-US" b="1" dirty="0"/>
              <a:t>Task 1:</a:t>
            </a:r>
            <a:r>
              <a:rPr lang="en-US" dirty="0"/>
              <a:t> Compute the Fourier Transform of a grayscale image and display magnitude and phase spectrum.</a:t>
            </a:r>
          </a:p>
          <a:p>
            <a:r>
              <a:rPr lang="en-US" b="1" dirty="0"/>
              <a:t>Task 2:</a:t>
            </a:r>
            <a:r>
              <a:rPr lang="en-US" dirty="0"/>
              <a:t> Apply low-pass and high-pass filters in frequency domain and observe results.</a:t>
            </a:r>
          </a:p>
          <a:p>
            <a:r>
              <a:rPr lang="en-US" b="1" dirty="0"/>
              <a:t>Task 3:</a:t>
            </a:r>
            <a:r>
              <a:rPr lang="en-US" dirty="0"/>
              <a:t> Reconstruct the original image using inverse FFT and compare with the input image.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324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5642-88FA-3760-0CE5-14AAA8537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FF746B-4D3C-C504-4722-7D34D3CDCF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8443851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4106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32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Fourier Transform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Converts spatial domain to frequency 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782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Discrete version for digital 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111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 algorithm for DFT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822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Magnitude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Strength of frequency 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510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Position information of frequency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262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Filtering, compression, edge detection, noise removal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87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63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826</Words>
  <Application>Microsoft Office PowerPoint</Application>
  <PresentationFormat>Widescreen</PresentationFormat>
  <Paragraphs>107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Lecture Notes – BSCS 5th Semester Course: Digital Image Processing Instructor: Adnan Majeed Topic: Fourier Theory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20</cp:revision>
  <dcterms:created xsi:type="dcterms:W3CDTF">2025-11-11T09:04:09Z</dcterms:created>
  <dcterms:modified xsi:type="dcterms:W3CDTF">2025-11-11T09:11:00Z</dcterms:modified>
</cp:coreProperties>
</file>