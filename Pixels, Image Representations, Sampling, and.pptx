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15C3-4E78-B66D-588D-F1505BA17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73F38-C466-5DE6-D519-7BDFFC3EA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6E80-9BE2-4A64-7CBE-E9FCE08F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7E905-5D42-11B8-3BDF-D7A894D9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980A-40A7-75FD-5A4B-C1476318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1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44FB-3027-68B2-A98B-7A8B40D4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7320-CD21-45D3-766D-1ADD50B8A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BB5DD-CC62-71F8-2C08-B29709F5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5FB46-9B8E-FA93-BFB4-51439DC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33352-7601-15B6-494F-93DF5817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D437-5947-4AAB-E6EB-653FBCF9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E11CC-1A37-C25F-353E-F09F28A81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21FF5-6527-98FF-7D7E-EF3FE0EF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1B2F-B8AD-8361-C8B4-964CB474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7A7E-62B6-E2D7-66E6-34BB3591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4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BF0F-294A-5E12-8222-76D7020A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11187-7021-5941-52F9-886E9ED10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14CA6-3A9E-7B6C-E044-51901A80A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DD314-D26A-1C95-91A8-1476968C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6319-75C7-4F26-209A-EEABE644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2DC2E-A467-0DA6-8316-BFABC090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2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24BE-E4D6-87F4-A5D0-5BA67CA7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BFBD1-AF56-495F-D749-8B9D90ED6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1CEA3-B044-8842-FD43-037871240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3B5F7-92C1-12A7-58F9-132FC11D2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31A9C-123B-461C-98DD-5C07300D4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3B5DF-9571-6DEF-9918-8210489D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EECE0-DFAE-E4BD-02AE-3C5F0BC4B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201F0-5053-D5F7-7D5D-3959A498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7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CFDF-5523-230B-C1F3-0110BDCC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70744-69EA-B63B-058B-1C11CEC5E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B5533-360F-9106-6D82-B646885E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4E4FF-C93B-015F-C526-D993052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5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29EDB-E118-656D-8A25-65EE3ADC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92C8AD-25C1-8DAC-72EE-436C32B7A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5F81-5CBC-0915-65C2-C8E5CFC2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CF9B-6541-5E04-FE6D-78794E4B0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5B48-5D24-C368-CF28-272AE6DCE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D67A-9D76-D69A-D900-4819C20CE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EDCE7-7E40-FE78-BFE9-B7597215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715F9-8285-FF13-86DA-6EEC8BFB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041DE-3BD0-341C-15BC-8754F957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4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65CB-52BC-5B6E-A03B-056D9C43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DB177-F030-B7F7-488B-78E80C2F2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E774C-6746-B8D7-3142-940A06E0A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FF806-F641-29C2-8581-D03FA796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8A02D-357D-890D-E5F9-4EAD6427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D2400-751E-2CA3-8460-0DAE9FE9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8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E3BC-794E-89E3-D4C7-92A507B6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3E308-C4DC-9FD3-4BD4-B5D0B42AB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9B73-2EE9-FC33-354F-379BF78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C353-CB49-A4B1-6BCB-9892A983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AB95D-BCA0-9FBD-9162-B05F3CF6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0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53927-A361-5A80-BEEC-AB89A727E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0E188-896A-641B-E607-4B8CC687E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9E2CF-B159-A129-9510-D91A1D82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4AFF-9B4D-6C79-AAB6-5CA7F955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66058-EA6F-BC12-4D02-790FC8E9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0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41DF8-F443-FED3-C42E-950C7F24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DBC79-7064-5830-2E4D-02CC81ED7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C7408-C7DE-FE3B-1B1D-835841A18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48B7E-0BB6-40F0-A41A-2419637DB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6186-1141-009D-B27B-48602F7EF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DDD1A-B6F7-2D89-3FAA-635FBCDE0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63B78-6909-4E57-A448-C36570E2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5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B049-2BA6-6947-A60C-D23264E3B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Pixels, Image Representations, Sampling, and Quantization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CF129-C3A6-8DB3-B468-235A10977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GC University Faisalabad</a:t>
            </a:r>
          </a:p>
          <a:p>
            <a:r>
              <a:rPr lang="en-US" b="1" dirty="0"/>
              <a:t>Course Title:</a:t>
            </a:r>
            <a:r>
              <a:rPr lang="en-US" dirty="0"/>
              <a:t> Digital Image Processing</a:t>
            </a:r>
            <a:br>
              <a:rPr lang="en-US" dirty="0"/>
            </a:br>
            <a:r>
              <a:rPr lang="en-US" b="1" dirty="0"/>
              <a:t>Lecture Topic:</a:t>
            </a:r>
            <a:r>
              <a:rPr lang="en-US" dirty="0"/>
              <a:t> Pixels, Image Representations, Sampling, and Quantization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 Adnan Majeed</a:t>
            </a:r>
            <a:br>
              <a:rPr lang="en-US" dirty="0"/>
            </a:br>
            <a:r>
              <a:rPr lang="en-US" b="1" dirty="0"/>
              <a:t>Semester:</a:t>
            </a:r>
            <a:r>
              <a:rPr lang="en-US" dirty="0"/>
              <a:t> 5th | </a:t>
            </a:r>
            <a:r>
              <a:rPr lang="en-US" b="1" dirty="0"/>
              <a:t>Credit Hours:</a:t>
            </a:r>
            <a:r>
              <a:rPr lang="en-US" dirty="0"/>
              <a:t> 3(2–1)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4CF4-F7B2-B0D9-AD04-17417C8B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5BBF-7BB2-9FDB-E290-DB80A95F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Objectives</a:t>
            </a:r>
          </a:p>
          <a:p>
            <a:r>
              <a:rPr lang="en-US" dirty="0"/>
              <a:t>By the end of this lecture, students should be able to:</a:t>
            </a:r>
          </a:p>
          <a:p>
            <a:r>
              <a:rPr lang="en-US" dirty="0"/>
              <a:t>Understand what pixels are and how they represent image data.</a:t>
            </a:r>
          </a:p>
          <a:p>
            <a:r>
              <a:rPr lang="en-US" dirty="0"/>
              <a:t>Describe digital image representation in spatial and intensity domains.</a:t>
            </a:r>
          </a:p>
          <a:p>
            <a:r>
              <a:rPr lang="en-US" dirty="0"/>
              <a:t>Explain the processes of sampling and quantization.</a:t>
            </a:r>
          </a:p>
          <a:p>
            <a:r>
              <a:rPr lang="en-US" dirty="0"/>
              <a:t>Analyze how resolution and quantization affect image quality.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77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0912-571A-B863-AD5F-DF7E8D6A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Digital Images</a:t>
            </a:r>
            <a:br>
              <a:rPr lang="en-US" b="1" dirty="0"/>
            </a:br>
            <a:r>
              <a:rPr lang="en-US" b="1" dirty="0"/>
              <a:t>What is an Image?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40797B-471C-2964-679A-EA1E886E64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An </a:t>
                </a:r>
                <a:r>
                  <a:rPr lang="en-US" b="1" dirty="0"/>
                  <a:t>image</a:t>
                </a:r>
                <a:r>
                  <a:rPr lang="en-US" dirty="0"/>
                  <a:t> is a two-dimensional function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/>
                      <m:t>𝑦</m:t>
                    </m:r>
                  </m:oMath>
                </a14:m>
                <a:r>
                  <a:rPr lang="en-US" dirty="0"/>
                  <a:t>are spatial coordinates.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represents the </a:t>
                </a:r>
                <a:r>
                  <a:rPr lang="en-US" b="1" dirty="0"/>
                  <a:t>intensity</a:t>
                </a:r>
                <a:r>
                  <a:rPr lang="en-US" dirty="0"/>
                  <a:t> or </a:t>
                </a:r>
                <a:r>
                  <a:rPr lang="en-US" b="1" dirty="0"/>
                  <a:t>gray level</a:t>
                </a:r>
                <a:r>
                  <a:rPr lang="en-US" dirty="0"/>
                  <a:t> at that point.</a:t>
                </a:r>
              </a:p>
              <a:p>
                <a:r>
                  <a:rPr lang="en-US" dirty="0"/>
                  <a:t>If both </a:t>
                </a:r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,</m:t>
                    </m:r>
                    <m:r>
                      <a:rPr lang="en-US" i="1"/>
                      <m:t>𝑦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are finite and discrete, the image is a </a:t>
                </a:r>
                <a:r>
                  <a:rPr lang="en-US" b="1" dirty="0"/>
                  <a:t>digital image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What is Digital Image Processing?</a:t>
                </a:r>
              </a:p>
              <a:p>
                <a:r>
                  <a:rPr lang="en-US" dirty="0"/>
                  <a:t>It refers to </a:t>
                </a:r>
                <a:r>
                  <a:rPr lang="en-US" b="1" dirty="0"/>
                  <a:t>processing digital images</a:t>
                </a:r>
                <a:r>
                  <a:rPr lang="en-US" dirty="0"/>
                  <a:t> using a digital computer for:</a:t>
                </a:r>
              </a:p>
              <a:p>
                <a:r>
                  <a:rPr lang="en-US" dirty="0"/>
                  <a:t>Enhancement</a:t>
                </a:r>
              </a:p>
              <a:p>
                <a:r>
                  <a:rPr lang="en-US" dirty="0"/>
                  <a:t>Compression</a:t>
                </a:r>
              </a:p>
              <a:p>
                <a:r>
                  <a:rPr lang="en-US" dirty="0"/>
                  <a:t>Analysis</a:t>
                </a:r>
              </a:p>
              <a:p>
                <a:r>
                  <a:rPr lang="en-US" dirty="0"/>
                  <a:t>Segmentation</a:t>
                </a:r>
              </a:p>
              <a:p>
                <a:r>
                  <a:rPr lang="en-US" dirty="0"/>
                  <a:t>Object recognition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40797B-471C-2964-679A-EA1E886E6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43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870B-B022-CA7F-1D64-564846AE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F1447D-8828-34D7-6669-3D1BE91A0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Pixels (Picture Elements)</a:t>
                </a:r>
              </a:p>
              <a:p>
                <a:r>
                  <a:rPr lang="en-US" b="1" dirty="0"/>
                  <a:t>Definition: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pixel (picture element)</a:t>
                </a:r>
                <a:r>
                  <a:rPr lang="en-US" dirty="0"/>
                  <a:t> is the smallest unit of a digital image that contains intensity or color information.</a:t>
                </a:r>
              </a:p>
              <a:p>
                <a:r>
                  <a:rPr lang="en-US" b="1" dirty="0"/>
                  <a:t>Properties of Pixels:</a:t>
                </a:r>
              </a:p>
              <a:p>
                <a:r>
                  <a:rPr lang="en-US" dirty="0"/>
                  <a:t>Represented by coordinates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/>
                  <a:t>Each pixel holds a value corresponding to intensity (grayscale) or color.</a:t>
                </a:r>
              </a:p>
              <a:p>
                <a:r>
                  <a:rPr lang="en-US" dirty="0"/>
                  <a:t>Arranged in a 2D grid called a </a:t>
                </a:r>
                <a:r>
                  <a:rPr lang="en-US" b="1" dirty="0"/>
                  <a:t>raster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F1447D-8828-34D7-6669-3D1BE91A0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47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E35E-2BA9-4D90-6BC5-147B7B17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BF7F90-318C-E121-7175-4F3FAA743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083641"/>
              </p:ext>
            </p:extLst>
          </p:nvPr>
        </p:nvGraphicFramePr>
        <p:xfrm>
          <a:off x="838200" y="2458387"/>
          <a:ext cx="10515600" cy="245730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735413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0182550"/>
                    </a:ext>
                  </a:extLst>
                </a:gridCol>
              </a:tblGrid>
              <a:tr h="49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Pixel Coordinate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Intensity (0–255)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038884"/>
                  </a:ext>
                </a:extLst>
              </a:tr>
              <a:tr h="49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(0,0)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968704"/>
                  </a:ext>
                </a:extLst>
              </a:tr>
              <a:tr h="49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(0,1)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967572"/>
                  </a:ext>
                </a:extLst>
              </a:tr>
              <a:tr h="49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(1,0)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186051"/>
                  </a:ext>
                </a:extLst>
              </a:tr>
              <a:tr h="49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(1,1)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716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37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9859-C0BA-1D1F-69C2-C2D70AC2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AFF68C-E196-13FA-D91E-BBE20A7B0F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Bit Depth:</a:t>
                </a:r>
              </a:p>
              <a:p>
                <a:r>
                  <a:rPr lang="en-US" dirty="0"/>
                  <a:t>Number of bits used to represent pixel intensity.</a:t>
                </a:r>
              </a:p>
              <a:p>
                <a:r>
                  <a:rPr lang="en-US" dirty="0"/>
                  <a:t>Determines number of gray levels: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  <m:r>
                      <a:rPr lang="en-US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 i="1"/>
                          <m:t>𝑘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= bits per pixel.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AFF68C-E196-13FA-D91E-BBE20A7B0F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4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BE7B-958B-8375-5ABF-BDD86A41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D99E00-50C2-970E-D34B-8894AA74BB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779903"/>
              </p:ext>
            </p:extLst>
          </p:nvPr>
        </p:nvGraphicFramePr>
        <p:xfrm>
          <a:off x="838200" y="2863121"/>
          <a:ext cx="10515600" cy="186969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517815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9850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08714945"/>
                    </a:ext>
                  </a:extLst>
                </a:gridCol>
              </a:tblGrid>
              <a:tr h="467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Gray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960652"/>
                  </a:ext>
                </a:extLst>
              </a:tr>
              <a:tr h="467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Black and White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148235"/>
                  </a:ext>
                </a:extLst>
              </a:tr>
              <a:tr h="467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Grayscale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572855"/>
                  </a:ext>
                </a:extLst>
              </a:tr>
              <a:tr h="467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24-bit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16.7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True Color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9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0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EC0B-44A6-E1CE-07B7-53F631EB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Image Representations</a:t>
            </a:r>
            <a:br>
              <a:rPr lang="en-US" b="1" dirty="0"/>
            </a:br>
            <a:r>
              <a:rPr lang="en-US" b="1" dirty="0"/>
              <a:t>(a) Spatial Domain Representation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B183F-F10F-0576-13D0-09478993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Image is represented by </a:t>
            </a:r>
            <a:r>
              <a:rPr lang="en-US" b="1" dirty="0"/>
              <a:t>pixels</a:t>
            </a:r>
            <a:r>
              <a:rPr lang="en-US" dirty="0"/>
              <a:t> arranged in a grid.</a:t>
            </a:r>
          </a:p>
          <a:p>
            <a:r>
              <a:rPr lang="en-US" dirty="0"/>
              <a:t>Operations are applied </a:t>
            </a:r>
            <a:r>
              <a:rPr lang="en-US" b="1" dirty="0"/>
              <a:t>directly</a:t>
            </a:r>
            <a:r>
              <a:rPr lang="en-US" dirty="0"/>
              <a:t> on pixel values.</a:t>
            </a:r>
          </a:p>
          <a:p>
            <a:r>
              <a:rPr lang="en-US" dirty="0"/>
              <a:t>Example: Image enhancement, contrast adjustment.</a:t>
            </a:r>
          </a:p>
          <a:p>
            <a:r>
              <a:rPr lang="en-US" b="1" dirty="0"/>
              <a:t>(b) Intensity (Gray Level) Representation</a:t>
            </a:r>
          </a:p>
          <a:p>
            <a:r>
              <a:rPr lang="en-US" dirty="0"/>
              <a:t>Intensity values represent brightness.</a:t>
            </a:r>
          </a:p>
          <a:p>
            <a:r>
              <a:rPr lang="en-US" dirty="0"/>
              <a:t>Grayscale images: range from </a:t>
            </a:r>
            <a:r>
              <a:rPr lang="en-US" b="1" dirty="0"/>
              <a:t>0 (black)</a:t>
            </a:r>
            <a:r>
              <a:rPr lang="en-US" dirty="0"/>
              <a:t> to </a:t>
            </a:r>
            <a:r>
              <a:rPr lang="en-US" b="1" dirty="0"/>
              <a:t>255 (white)</a:t>
            </a:r>
            <a:r>
              <a:rPr lang="en-US" dirty="0"/>
              <a:t>.</a:t>
            </a:r>
          </a:p>
          <a:p>
            <a:r>
              <a:rPr lang="en-US" b="1" dirty="0"/>
              <a:t>(c) Color Image Representation</a:t>
            </a:r>
          </a:p>
          <a:p>
            <a:r>
              <a:rPr lang="en-US" dirty="0"/>
              <a:t>Represented by combining </a:t>
            </a:r>
            <a:r>
              <a:rPr lang="en-US" b="1" dirty="0"/>
              <a:t>three primary colors (RGB)</a:t>
            </a:r>
            <a:r>
              <a:rPr lang="en-US" dirty="0"/>
              <a:t>.</a:t>
            </a:r>
          </a:p>
          <a:p>
            <a:r>
              <a:rPr lang="en-US" dirty="0"/>
              <a:t>Each color component has an 8-bit intensity value.</a:t>
            </a:r>
          </a:p>
          <a:p>
            <a:pPr lvl="1"/>
            <a:r>
              <a:rPr lang="en-US" dirty="0"/>
              <a:t>Red (0–255)</a:t>
            </a:r>
          </a:p>
          <a:p>
            <a:pPr lvl="1"/>
            <a:r>
              <a:rPr lang="en-US" dirty="0"/>
              <a:t>Green (0–255)</a:t>
            </a:r>
          </a:p>
          <a:p>
            <a:pPr lvl="1"/>
            <a:r>
              <a:rPr lang="en-US" dirty="0"/>
              <a:t>Blue (0–255)</a:t>
            </a:r>
          </a:p>
          <a:p>
            <a:r>
              <a:rPr lang="en-US" dirty="0"/>
              <a:t>A pixel color = (R, G, 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8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A2C6-303E-229C-921E-111ABC6A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C5C91-63A7-C5AB-8CE9-EA7F61FB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(d) Binary Image Representation</a:t>
            </a:r>
          </a:p>
          <a:p>
            <a:r>
              <a:rPr lang="en-US" dirty="0"/>
              <a:t>Pixels are represented by </a:t>
            </a:r>
            <a:r>
              <a:rPr lang="en-US" b="1" dirty="0"/>
              <a:t>0 (black)</a:t>
            </a:r>
            <a:r>
              <a:rPr lang="en-US" dirty="0"/>
              <a:t> and </a:t>
            </a:r>
            <a:r>
              <a:rPr lang="en-US" b="1" dirty="0"/>
              <a:t>1 (white)</a:t>
            </a:r>
            <a:r>
              <a:rPr lang="en-US" dirty="0"/>
              <a:t>.</a:t>
            </a:r>
          </a:p>
          <a:p>
            <a:r>
              <a:rPr lang="en-US" dirty="0"/>
              <a:t>Used for document images or edge detection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413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EB71-5F3A-83AF-AB30-136AEC53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8F418-820D-362A-D9FC-DF94CDEEE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dirty="0"/>
                  <a:t>Image Sampling and Quantization</a:t>
                </a:r>
              </a:p>
              <a:p>
                <a:r>
                  <a:rPr lang="en-US" dirty="0"/>
                  <a:t>Digital image formation involves </a:t>
                </a:r>
                <a:r>
                  <a:rPr lang="en-US" b="1" dirty="0"/>
                  <a:t>two key steps:</a:t>
                </a:r>
                <a:endParaRPr lang="en-US" dirty="0"/>
              </a:p>
              <a:p>
                <a:r>
                  <a:rPr lang="en-US" b="1" dirty="0"/>
                  <a:t>Step 1: Sampling</a:t>
                </a:r>
              </a:p>
              <a:p>
                <a:r>
                  <a:rPr lang="en-US" dirty="0"/>
                  <a:t>Converts a continuous image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into a discrete image.</a:t>
                </a:r>
              </a:p>
              <a:p>
                <a:r>
                  <a:rPr lang="en-US" b="1" dirty="0"/>
                  <a:t>Sampling</a:t>
                </a:r>
                <a:r>
                  <a:rPr lang="en-US" dirty="0"/>
                  <a:t> = selecting discrete points (pixels) in spatial coordinates (x, y).</a:t>
                </a:r>
              </a:p>
              <a:p>
                <a:r>
                  <a:rPr lang="en-US" dirty="0"/>
                  <a:t>Determines </a:t>
                </a:r>
                <a:r>
                  <a:rPr lang="en-US" b="1" dirty="0"/>
                  <a:t>spatial resolution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Example:</a:t>
                </a:r>
              </a:p>
              <a:p>
                <a:r>
                  <a:rPr lang="en-US" dirty="0"/>
                  <a:t>High sampling rate → More pixels → High resolution</a:t>
                </a:r>
                <a:br>
                  <a:rPr lang="en-US" dirty="0"/>
                </a:br>
                <a:r>
                  <a:rPr lang="en-US" dirty="0"/>
                  <a:t>Low sampling rate → Fewer pixels → Loss of detail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8F418-820D-362A-D9FC-DF94CDEEE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958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12D0-103F-CDDC-D85A-8E176A96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60A9-609F-D664-6723-1737D1803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Quantization</a:t>
            </a:r>
          </a:p>
          <a:p>
            <a:r>
              <a:rPr lang="en-US" dirty="0"/>
              <a:t>Converts continuous intensity values into discrete levels.</a:t>
            </a:r>
          </a:p>
          <a:p>
            <a:r>
              <a:rPr lang="en-US" dirty="0"/>
              <a:t>Determines </a:t>
            </a:r>
            <a:r>
              <a:rPr lang="en-US" b="1" dirty="0"/>
              <a:t>intensity resolution</a:t>
            </a:r>
            <a:r>
              <a:rPr lang="en-US" dirty="0"/>
              <a:t> (number of gray levels).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2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E8E6-FD7F-9745-6C1D-62FBA1C0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A86F01-FC12-6BC1-811E-5406FF5CE7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29856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04899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Quantization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7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levels (1-bit)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2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 levels (4-bit)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256 levels (8-bit)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98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189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C9A0-D1B3-E45C-7FB5-758FDDBD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vs Quantization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054FC-7C8C-85C8-F537-DDA108351B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237571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9734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4847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02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2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 pixel locations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Assign discrete intensity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019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Affects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Spatial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Gray Level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Pixels per inch (PPI)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Bits per pixel (</a:t>
                      </a:r>
                      <a:r>
                        <a:rPr lang="en-US" dirty="0" err="1"/>
                        <a:t>bpp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553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75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5E1-BF83-49E5-FCF0-C766B10F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Sampling &amp; Quantization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5778FC-DE2C-5AA9-12CD-A60A2C8F82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126688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9927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0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Sampling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Blurred or blocky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29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Sampling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Sharp image, larger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930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Quantization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Posterization effect (banding)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0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Quantization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Smooth grayscale transitions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253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059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DEFC-8A35-C41B-69D1-894E32D5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ECEFC-9ABE-BE2F-6EBA-537D1A888C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Mathematical Representation</a:t>
                </a:r>
              </a:p>
              <a:p>
                <a:r>
                  <a:rPr lang="en-US" dirty="0"/>
                  <a:t>If a digital image has: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𝑀</m:t>
                    </m:r>
                  </m:oMath>
                </a14:m>
                <a:r>
                  <a:rPr lang="en-US" dirty="0"/>
                  <a:t>rows and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columns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gray levels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ECEFC-9ABE-BE2F-6EBA-537D1A888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65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6A08-8C73-660C-C866-11FB5ADC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 in Python (Optional Lab Activity)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E8086-C8E8-3294-065B-B6C16CE96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Load image in grayscale</a:t>
            </a:r>
          </a:p>
          <a:p>
            <a:pPr marL="0" indent="0">
              <a:buNone/>
            </a:pPr>
            <a:r>
              <a:rPr lang="en-US" dirty="0"/>
              <a:t>image = cv2.imread('image.jpg',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Sampling: Resize image</a:t>
            </a:r>
          </a:p>
          <a:p>
            <a:pPr marL="0" indent="0">
              <a:buNone/>
            </a:pPr>
            <a:r>
              <a:rPr lang="en-US" dirty="0"/>
              <a:t>sampled = cv2.resize(image, (64, 64))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Quantization: Reduce gray levels to 16</a:t>
            </a:r>
          </a:p>
          <a:p>
            <a:pPr marL="0" indent="0">
              <a:buNone/>
            </a:pPr>
            <a:r>
              <a:rPr lang="en-US" dirty="0"/>
              <a:t>quantized = (image // 16) * 16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Display results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=(12,4))</a:t>
            </a:r>
          </a:p>
          <a:p>
            <a:pPr marL="0" indent="0">
              <a:buNone/>
            </a:pPr>
            <a:r>
              <a:rPr lang="en-US" dirty="0" err="1"/>
              <a:t>plt.subplot</a:t>
            </a:r>
            <a:r>
              <a:rPr lang="en-US" dirty="0"/>
              <a:t>(131); </a:t>
            </a:r>
            <a:r>
              <a:rPr lang="en-US" dirty="0" err="1"/>
              <a:t>plt.imshow</a:t>
            </a:r>
            <a:r>
              <a:rPr lang="en-US" dirty="0"/>
              <a:t>(image, </a:t>
            </a:r>
            <a:r>
              <a:rPr lang="en-US" dirty="0" err="1"/>
              <a:t>cmap</a:t>
            </a:r>
            <a:r>
              <a:rPr lang="en-US" dirty="0"/>
              <a:t>='gray'); </a:t>
            </a:r>
            <a:r>
              <a:rPr lang="en-US" dirty="0" err="1"/>
              <a:t>plt.title</a:t>
            </a:r>
            <a:r>
              <a:rPr lang="en-US" dirty="0"/>
              <a:t>("Original")</a:t>
            </a:r>
          </a:p>
          <a:p>
            <a:pPr marL="0" indent="0">
              <a:buNone/>
            </a:pPr>
            <a:r>
              <a:rPr lang="en-US" dirty="0" err="1"/>
              <a:t>plt.subplot</a:t>
            </a:r>
            <a:r>
              <a:rPr lang="en-US" dirty="0"/>
              <a:t>(132); </a:t>
            </a:r>
            <a:r>
              <a:rPr lang="en-US" dirty="0" err="1"/>
              <a:t>plt.imshow</a:t>
            </a:r>
            <a:r>
              <a:rPr lang="en-US" dirty="0"/>
              <a:t>(sampled, </a:t>
            </a:r>
            <a:r>
              <a:rPr lang="en-US" dirty="0" err="1"/>
              <a:t>cmap</a:t>
            </a:r>
            <a:r>
              <a:rPr lang="en-US" dirty="0"/>
              <a:t>='gray'); </a:t>
            </a:r>
            <a:r>
              <a:rPr lang="en-US" dirty="0" err="1"/>
              <a:t>plt.title</a:t>
            </a:r>
            <a:r>
              <a:rPr lang="en-US" dirty="0"/>
              <a:t>("Sampled (64x64)")</a:t>
            </a:r>
          </a:p>
          <a:p>
            <a:pPr marL="0" indent="0">
              <a:buNone/>
            </a:pPr>
            <a:r>
              <a:rPr lang="en-US" dirty="0" err="1"/>
              <a:t>plt.subplot</a:t>
            </a:r>
            <a:r>
              <a:rPr lang="en-US" dirty="0"/>
              <a:t>(133); </a:t>
            </a:r>
            <a:r>
              <a:rPr lang="en-US" dirty="0" err="1"/>
              <a:t>plt.imshow</a:t>
            </a:r>
            <a:r>
              <a:rPr lang="en-US" dirty="0"/>
              <a:t>(quantized, </a:t>
            </a:r>
            <a:r>
              <a:rPr lang="en-US" dirty="0" err="1"/>
              <a:t>cmap</a:t>
            </a:r>
            <a:r>
              <a:rPr lang="en-US" dirty="0"/>
              <a:t>='gray'); </a:t>
            </a:r>
            <a:r>
              <a:rPr lang="en-US" dirty="0" err="1"/>
              <a:t>plt.title</a:t>
            </a:r>
            <a:r>
              <a:rPr lang="en-US" dirty="0"/>
              <a:t>("Quantized (16 Levels)")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17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15EE-FADC-7273-0422-4699479F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069A34-7017-7F97-D1CF-A9922F3E69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126742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449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1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Pixel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Smallest image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50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Representation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image data is stored (spatial/intensity/color)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470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Discretization of spatial coordinates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55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Discretization of intensity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2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Depends on sampling and quantization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230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DA92-5D7A-BBB0-0F4A-DB505FE6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04D3-CAAF-EDFD-0404-64F98F00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Review Questions</a:t>
            </a:r>
          </a:p>
          <a:p>
            <a:r>
              <a:rPr lang="en-US" dirty="0"/>
              <a:t>Define a digital image and pixel.</a:t>
            </a:r>
          </a:p>
          <a:p>
            <a:r>
              <a:rPr lang="en-US" dirty="0"/>
              <a:t>What is the difference between sampling and quantization?</a:t>
            </a:r>
          </a:p>
          <a:p>
            <a:r>
              <a:rPr lang="en-US" dirty="0"/>
              <a:t>Explain bit depth and its effect on image quality.</a:t>
            </a:r>
          </a:p>
          <a:p>
            <a:r>
              <a:rPr lang="en-US" dirty="0"/>
              <a:t>Describe spatial and intensity domain representations.</a:t>
            </a:r>
          </a:p>
          <a:p>
            <a:r>
              <a:rPr lang="en-US" dirty="0"/>
              <a:t>How do sampling rate and quantization levels affect image resolution?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40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B673-274E-BFCA-D917-4CD1239B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864E-7DFA-7FB2-F545-BE6DF1024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Recommended Readings</a:t>
            </a:r>
          </a:p>
          <a:p>
            <a:r>
              <a:rPr lang="en-US" b="1" dirty="0"/>
              <a:t>Rafael C. Gonzalez &amp; Richard E. Woods</a:t>
            </a:r>
            <a:r>
              <a:rPr lang="en-US" dirty="0"/>
              <a:t>, </a:t>
            </a:r>
            <a:r>
              <a:rPr lang="en-US" i="1" dirty="0"/>
              <a:t>Digital Image Processing</a:t>
            </a:r>
            <a:r>
              <a:rPr lang="en-US" dirty="0"/>
              <a:t>, 4th Edition, Pearson.</a:t>
            </a:r>
          </a:p>
          <a:p>
            <a:r>
              <a:rPr lang="en-US" b="1" dirty="0"/>
              <a:t>Anil K. Jain</a:t>
            </a:r>
            <a:r>
              <a:rPr lang="en-US" dirty="0"/>
              <a:t>, </a:t>
            </a:r>
            <a:r>
              <a:rPr lang="en-US" i="1" dirty="0"/>
              <a:t>Fundamentals of Digital Image Processing</a:t>
            </a:r>
            <a:r>
              <a:rPr lang="en-US" dirty="0"/>
              <a:t>, Prentice-Hall.</a:t>
            </a:r>
          </a:p>
          <a:p>
            <a:r>
              <a:rPr lang="en-US"/>
              <a:t>Lecture slides and lab manuals provided by GCUF Department of Computer Science.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934</Words>
  <Application>Microsoft Office PowerPoint</Application>
  <PresentationFormat>Widescreen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Pixels, Image Representations, Sampling, and Quantization</vt:lpstr>
      <vt:lpstr>PowerPoint Presentation</vt:lpstr>
      <vt:lpstr>Introduction to Digital Images What is an Image? </vt:lpstr>
      <vt:lpstr>PowerPoint Presentation</vt:lpstr>
      <vt:lpstr>Example </vt:lpstr>
      <vt:lpstr>PowerPoint Presentation</vt:lpstr>
      <vt:lpstr>PowerPoint Presentation</vt:lpstr>
      <vt:lpstr>Image Representations (a) Spatial Domain Representation </vt:lpstr>
      <vt:lpstr>PowerPoint Presentation</vt:lpstr>
      <vt:lpstr>PowerPoint Presentation</vt:lpstr>
      <vt:lpstr>PowerPoint Presentation</vt:lpstr>
      <vt:lpstr>PowerPoint Presentation</vt:lpstr>
      <vt:lpstr>Sampling vs Quantization</vt:lpstr>
      <vt:lpstr>Effects of Sampling &amp; Quantization</vt:lpstr>
      <vt:lpstr>PowerPoint Presentation</vt:lpstr>
      <vt:lpstr>Practical Example in Python (Optional Lab Activity)</vt:lpstr>
      <vt:lpstr>Summary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26</cp:revision>
  <dcterms:created xsi:type="dcterms:W3CDTF">2025-11-05T08:36:51Z</dcterms:created>
  <dcterms:modified xsi:type="dcterms:W3CDTF">2025-11-05T08:41:52Z</dcterms:modified>
</cp:coreProperties>
</file>