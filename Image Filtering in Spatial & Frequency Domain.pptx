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10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0D421-7787-3D81-B917-4D23390A0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0F05D62-86D4-8952-408B-1865C5891D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F0DD07-1C6D-6C5B-DF53-D363CE402103}"/>
              </a:ext>
            </a:extLst>
          </p:cNvPr>
          <p:cNvSpPr>
            <a:spLocks noGrp="1"/>
          </p:cNvSpPr>
          <p:nvPr>
            <p:ph type="dt" sz="half" idx="10"/>
          </p:nvPr>
        </p:nvSpPr>
        <p:spPr/>
        <p:txBody>
          <a:bodyPr/>
          <a:lstStyle/>
          <a:p>
            <a:fld id="{8266B12E-EB85-41E6-AED9-EC60A0D97A1F}" type="datetimeFigureOut">
              <a:rPr lang="en-US" smtClean="0"/>
              <a:t>11/21/2025</a:t>
            </a:fld>
            <a:endParaRPr lang="en-US"/>
          </a:p>
        </p:txBody>
      </p:sp>
      <p:sp>
        <p:nvSpPr>
          <p:cNvPr id="5" name="Footer Placeholder 4">
            <a:extLst>
              <a:ext uri="{FF2B5EF4-FFF2-40B4-BE49-F238E27FC236}">
                <a16:creationId xmlns:a16="http://schemas.microsoft.com/office/drawing/2014/main" id="{6F4C478C-0DB0-C50F-6820-8079823C43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C5B4A9-AECA-5AF9-F418-BC94F55E0040}"/>
              </a:ext>
            </a:extLst>
          </p:cNvPr>
          <p:cNvSpPr>
            <a:spLocks noGrp="1"/>
          </p:cNvSpPr>
          <p:nvPr>
            <p:ph type="sldNum" sz="quarter" idx="12"/>
          </p:nvPr>
        </p:nvSpPr>
        <p:spPr/>
        <p:txBody>
          <a:bodyPr/>
          <a:lstStyle/>
          <a:p>
            <a:fld id="{9A65A311-5975-433A-B17A-BA59AA0103DC}" type="slidenum">
              <a:rPr lang="en-US" smtClean="0"/>
              <a:t>‹#›</a:t>
            </a:fld>
            <a:endParaRPr lang="en-US"/>
          </a:p>
        </p:txBody>
      </p:sp>
    </p:spTree>
    <p:extLst>
      <p:ext uri="{BB962C8B-B14F-4D97-AF65-F5344CB8AC3E}">
        <p14:creationId xmlns:p14="http://schemas.microsoft.com/office/powerpoint/2010/main" val="1383783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06CB3-C877-F7DF-6066-D2D496895C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40594C-DD0C-F949-7447-0F88C50978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752A39-3B37-3F78-DE93-761334EB5728}"/>
              </a:ext>
            </a:extLst>
          </p:cNvPr>
          <p:cNvSpPr>
            <a:spLocks noGrp="1"/>
          </p:cNvSpPr>
          <p:nvPr>
            <p:ph type="dt" sz="half" idx="10"/>
          </p:nvPr>
        </p:nvSpPr>
        <p:spPr/>
        <p:txBody>
          <a:bodyPr/>
          <a:lstStyle/>
          <a:p>
            <a:fld id="{8266B12E-EB85-41E6-AED9-EC60A0D97A1F}" type="datetimeFigureOut">
              <a:rPr lang="en-US" smtClean="0"/>
              <a:t>11/21/2025</a:t>
            </a:fld>
            <a:endParaRPr lang="en-US"/>
          </a:p>
        </p:txBody>
      </p:sp>
      <p:sp>
        <p:nvSpPr>
          <p:cNvPr id="5" name="Footer Placeholder 4">
            <a:extLst>
              <a:ext uri="{FF2B5EF4-FFF2-40B4-BE49-F238E27FC236}">
                <a16:creationId xmlns:a16="http://schemas.microsoft.com/office/drawing/2014/main" id="{E472179B-C0EE-7E93-82F7-D3A318A352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F0426F-03BC-64F5-D5CF-BEBC4D4FDB2B}"/>
              </a:ext>
            </a:extLst>
          </p:cNvPr>
          <p:cNvSpPr>
            <a:spLocks noGrp="1"/>
          </p:cNvSpPr>
          <p:nvPr>
            <p:ph type="sldNum" sz="quarter" idx="12"/>
          </p:nvPr>
        </p:nvSpPr>
        <p:spPr/>
        <p:txBody>
          <a:bodyPr/>
          <a:lstStyle/>
          <a:p>
            <a:fld id="{9A65A311-5975-433A-B17A-BA59AA0103DC}" type="slidenum">
              <a:rPr lang="en-US" smtClean="0"/>
              <a:t>‹#›</a:t>
            </a:fld>
            <a:endParaRPr lang="en-US"/>
          </a:p>
        </p:txBody>
      </p:sp>
    </p:spTree>
    <p:extLst>
      <p:ext uri="{BB962C8B-B14F-4D97-AF65-F5344CB8AC3E}">
        <p14:creationId xmlns:p14="http://schemas.microsoft.com/office/powerpoint/2010/main" val="3580453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1229E-16AC-9906-DC1F-E6A935BBE7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AD6AA0-6B58-3FEC-91DF-30E41C1348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CEF0DC-0311-23FC-82A5-10089BD69491}"/>
              </a:ext>
            </a:extLst>
          </p:cNvPr>
          <p:cNvSpPr>
            <a:spLocks noGrp="1"/>
          </p:cNvSpPr>
          <p:nvPr>
            <p:ph type="dt" sz="half" idx="10"/>
          </p:nvPr>
        </p:nvSpPr>
        <p:spPr/>
        <p:txBody>
          <a:bodyPr/>
          <a:lstStyle/>
          <a:p>
            <a:fld id="{8266B12E-EB85-41E6-AED9-EC60A0D97A1F}" type="datetimeFigureOut">
              <a:rPr lang="en-US" smtClean="0"/>
              <a:t>11/21/2025</a:t>
            </a:fld>
            <a:endParaRPr lang="en-US"/>
          </a:p>
        </p:txBody>
      </p:sp>
      <p:sp>
        <p:nvSpPr>
          <p:cNvPr id="5" name="Footer Placeholder 4">
            <a:extLst>
              <a:ext uri="{FF2B5EF4-FFF2-40B4-BE49-F238E27FC236}">
                <a16:creationId xmlns:a16="http://schemas.microsoft.com/office/drawing/2014/main" id="{7B51B8CB-9413-51B9-618F-6574C6DD67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34549-C7C4-4C7D-6A5A-40C5ED39BD2A}"/>
              </a:ext>
            </a:extLst>
          </p:cNvPr>
          <p:cNvSpPr>
            <a:spLocks noGrp="1"/>
          </p:cNvSpPr>
          <p:nvPr>
            <p:ph type="sldNum" sz="quarter" idx="12"/>
          </p:nvPr>
        </p:nvSpPr>
        <p:spPr/>
        <p:txBody>
          <a:bodyPr/>
          <a:lstStyle/>
          <a:p>
            <a:fld id="{9A65A311-5975-433A-B17A-BA59AA0103DC}" type="slidenum">
              <a:rPr lang="en-US" smtClean="0"/>
              <a:t>‹#›</a:t>
            </a:fld>
            <a:endParaRPr lang="en-US"/>
          </a:p>
        </p:txBody>
      </p:sp>
    </p:spTree>
    <p:extLst>
      <p:ext uri="{BB962C8B-B14F-4D97-AF65-F5344CB8AC3E}">
        <p14:creationId xmlns:p14="http://schemas.microsoft.com/office/powerpoint/2010/main" val="4009839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33D7F-9AE3-312E-9085-33805378C7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2D94CB-53F5-B618-DC08-3D166DE8C9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BE01C2-1F0A-188C-85CC-B342C8DBAF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4FF7EE-59BB-D483-A7AF-9FFEECD6E460}"/>
              </a:ext>
            </a:extLst>
          </p:cNvPr>
          <p:cNvSpPr>
            <a:spLocks noGrp="1"/>
          </p:cNvSpPr>
          <p:nvPr>
            <p:ph type="dt" sz="half" idx="10"/>
          </p:nvPr>
        </p:nvSpPr>
        <p:spPr/>
        <p:txBody>
          <a:bodyPr/>
          <a:lstStyle/>
          <a:p>
            <a:fld id="{8266B12E-EB85-41E6-AED9-EC60A0D97A1F}" type="datetimeFigureOut">
              <a:rPr lang="en-US" smtClean="0"/>
              <a:t>11/21/2025</a:t>
            </a:fld>
            <a:endParaRPr lang="en-US"/>
          </a:p>
        </p:txBody>
      </p:sp>
      <p:sp>
        <p:nvSpPr>
          <p:cNvPr id="6" name="Footer Placeholder 5">
            <a:extLst>
              <a:ext uri="{FF2B5EF4-FFF2-40B4-BE49-F238E27FC236}">
                <a16:creationId xmlns:a16="http://schemas.microsoft.com/office/drawing/2014/main" id="{C37FBEB0-E6FA-1B89-3EA5-6C43D07E70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4FF6C2-F1DD-DBB6-06F1-B6F21E6C5F9D}"/>
              </a:ext>
            </a:extLst>
          </p:cNvPr>
          <p:cNvSpPr>
            <a:spLocks noGrp="1"/>
          </p:cNvSpPr>
          <p:nvPr>
            <p:ph type="sldNum" sz="quarter" idx="12"/>
          </p:nvPr>
        </p:nvSpPr>
        <p:spPr/>
        <p:txBody>
          <a:bodyPr/>
          <a:lstStyle/>
          <a:p>
            <a:fld id="{9A65A311-5975-433A-B17A-BA59AA0103DC}" type="slidenum">
              <a:rPr lang="en-US" smtClean="0"/>
              <a:t>‹#›</a:t>
            </a:fld>
            <a:endParaRPr lang="en-US"/>
          </a:p>
        </p:txBody>
      </p:sp>
    </p:spTree>
    <p:extLst>
      <p:ext uri="{BB962C8B-B14F-4D97-AF65-F5344CB8AC3E}">
        <p14:creationId xmlns:p14="http://schemas.microsoft.com/office/powerpoint/2010/main" val="500573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A72E-8BA0-12E5-C7B8-3D5C5460439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B6E84A-6EC8-48DD-8728-86CB81B8DC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39FFD4-0B63-712C-7AC4-434DB61173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B86DD1-55E8-EAB0-CCC3-80D39C549E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DD2BDF-1AFC-C949-9BF9-EB9C93FD61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568ED2-D490-664C-6833-C768E28AACE5}"/>
              </a:ext>
            </a:extLst>
          </p:cNvPr>
          <p:cNvSpPr>
            <a:spLocks noGrp="1"/>
          </p:cNvSpPr>
          <p:nvPr>
            <p:ph type="dt" sz="half" idx="10"/>
          </p:nvPr>
        </p:nvSpPr>
        <p:spPr/>
        <p:txBody>
          <a:bodyPr/>
          <a:lstStyle/>
          <a:p>
            <a:fld id="{8266B12E-EB85-41E6-AED9-EC60A0D97A1F}" type="datetimeFigureOut">
              <a:rPr lang="en-US" smtClean="0"/>
              <a:t>11/21/2025</a:t>
            </a:fld>
            <a:endParaRPr lang="en-US"/>
          </a:p>
        </p:txBody>
      </p:sp>
      <p:sp>
        <p:nvSpPr>
          <p:cNvPr id="8" name="Footer Placeholder 7">
            <a:extLst>
              <a:ext uri="{FF2B5EF4-FFF2-40B4-BE49-F238E27FC236}">
                <a16:creationId xmlns:a16="http://schemas.microsoft.com/office/drawing/2014/main" id="{D3DB2067-C949-1DF5-7FAB-2D5169099D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DD9642-D966-F5C0-E555-CA94D780F2A2}"/>
              </a:ext>
            </a:extLst>
          </p:cNvPr>
          <p:cNvSpPr>
            <a:spLocks noGrp="1"/>
          </p:cNvSpPr>
          <p:nvPr>
            <p:ph type="sldNum" sz="quarter" idx="12"/>
          </p:nvPr>
        </p:nvSpPr>
        <p:spPr/>
        <p:txBody>
          <a:bodyPr/>
          <a:lstStyle/>
          <a:p>
            <a:fld id="{9A65A311-5975-433A-B17A-BA59AA0103DC}" type="slidenum">
              <a:rPr lang="en-US" smtClean="0"/>
              <a:t>‹#›</a:t>
            </a:fld>
            <a:endParaRPr lang="en-US"/>
          </a:p>
        </p:txBody>
      </p:sp>
    </p:spTree>
    <p:extLst>
      <p:ext uri="{BB962C8B-B14F-4D97-AF65-F5344CB8AC3E}">
        <p14:creationId xmlns:p14="http://schemas.microsoft.com/office/powerpoint/2010/main" val="1035571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FB60E-C533-6CF2-42A2-FBC33FF973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C13310C-0089-9939-EC6D-6AAEA834E5A5}"/>
              </a:ext>
            </a:extLst>
          </p:cNvPr>
          <p:cNvSpPr>
            <a:spLocks noGrp="1"/>
          </p:cNvSpPr>
          <p:nvPr>
            <p:ph type="dt" sz="half" idx="10"/>
          </p:nvPr>
        </p:nvSpPr>
        <p:spPr/>
        <p:txBody>
          <a:bodyPr/>
          <a:lstStyle/>
          <a:p>
            <a:fld id="{8266B12E-EB85-41E6-AED9-EC60A0D97A1F}" type="datetimeFigureOut">
              <a:rPr lang="en-US" smtClean="0"/>
              <a:t>11/21/2025</a:t>
            </a:fld>
            <a:endParaRPr lang="en-US"/>
          </a:p>
        </p:txBody>
      </p:sp>
      <p:sp>
        <p:nvSpPr>
          <p:cNvPr id="4" name="Footer Placeholder 3">
            <a:extLst>
              <a:ext uri="{FF2B5EF4-FFF2-40B4-BE49-F238E27FC236}">
                <a16:creationId xmlns:a16="http://schemas.microsoft.com/office/drawing/2014/main" id="{4515169C-CF2E-9072-2F36-FD19EA76BF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CE21052-589C-BAB6-3952-CAA4B6D5C4DD}"/>
              </a:ext>
            </a:extLst>
          </p:cNvPr>
          <p:cNvSpPr>
            <a:spLocks noGrp="1"/>
          </p:cNvSpPr>
          <p:nvPr>
            <p:ph type="sldNum" sz="quarter" idx="12"/>
          </p:nvPr>
        </p:nvSpPr>
        <p:spPr/>
        <p:txBody>
          <a:bodyPr/>
          <a:lstStyle/>
          <a:p>
            <a:fld id="{9A65A311-5975-433A-B17A-BA59AA0103DC}" type="slidenum">
              <a:rPr lang="en-US" smtClean="0"/>
              <a:t>‹#›</a:t>
            </a:fld>
            <a:endParaRPr lang="en-US"/>
          </a:p>
        </p:txBody>
      </p:sp>
    </p:spTree>
    <p:extLst>
      <p:ext uri="{BB962C8B-B14F-4D97-AF65-F5344CB8AC3E}">
        <p14:creationId xmlns:p14="http://schemas.microsoft.com/office/powerpoint/2010/main" val="222865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599A50-9C43-66AB-EEB6-BA1D03CD2B62}"/>
              </a:ext>
            </a:extLst>
          </p:cNvPr>
          <p:cNvSpPr>
            <a:spLocks noGrp="1"/>
          </p:cNvSpPr>
          <p:nvPr>
            <p:ph type="dt" sz="half" idx="10"/>
          </p:nvPr>
        </p:nvSpPr>
        <p:spPr/>
        <p:txBody>
          <a:bodyPr/>
          <a:lstStyle/>
          <a:p>
            <a:fld id="{8266B12E-EB85-41E6-AED9-EC60A0D97A1F}" type="datetimeFigureOut">
              <a:rPr lang="en-US" smtClean="0"/>
              <a:t>11/21/2025</a:t>
            </a:fld>
            <a:endParaRPr lang="en-US"/>
          </a:p>
        </p:txBody>
      </p:sp>
      <p:sp>
        <p:nvSpPr>
          <p:cNvPr id="3" name="Footer Placeholder 2">
            <a:extLst>
              <a:ext uri="{FF2B5EF4-FFF2-40B4-BE49-F238E27FC236}">
                <a16:creationId xmlns:a16="http://schemas.microsoft.com/office/drawing/2014/main" id="{0E9293EC-9CC6-7029-5234-124A74B91BC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114422-947E-94DE-C781-93DAAA2B0B6F}"/>
              </a:ext>
            </a:extLst>
          </p:cNvPr>
          <p:cNvSpPr>
            <a:spLocks noGrp="1"/>
          </p:cNvSpPr>
          <p:nvPr>
            <p:ph type="sldNum" sz="quarter" idx="12"/>
          </p:nvPr>
        </p:nvSpPr>
        <p:spPr/>
        <p:txBody>
          <a:bodyPr/>
          <a:lstStyle/>
          <a:p>
            <a:fld id="{9A65A311-5975-433A-B17A-BA59AA0103DC}" type="slidenum">
              <a:rPr lang="en-US" smtClean="0"/>
              <a:t>‹#›</a:t>
            </a:fld>
            <a:endParaRPr lang="en-US"/>
          </a:p>
        </p:txBody>
      </p:sp>
    </p:spTree>
    <p:extLst>
      <p:ext uri="{BB962C8B-B14F-4D97-AF65-F5344CB8AC3E}">
        <p14:creationId xmlns:p14="http://schemas.microsoft.com/office/powerpoint/2010/main" val="2638633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8E456-84FC-7696-7BCC-38EB399BD0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04DBB4-85AB-72CC-68FA-C66AF6166E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44459A-7B17-F551-12DB-6C66BF10B2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025B6B-6C8E-12EC-2F2A-9158574E7C03}"/>
              </a:ext>
            </a:extLst>
          </p:cNvPr>
          <p:cNvSpPr>
            <a:spLocks noGrp="1"/>
          </p:cNvSpPr>
          <p:nvPr>
            <p:ph type="dt" sz="half" idx="10"/>
          </p:nvPr>
        </p:nvSpPr>
        <p:spPr/>
        <p:txBody>
          <a:bodyPr/>
          <a:lstStyle/>
          <a:p>
            <a:fld id="{8266B12E-EB85-41E6-AED9-EC60A0D97A1F}" type="datetimeFigureOut">
              <a:rPr lang="en-US" smtClean="0"/>
              <a:t>11/21/2025</a:t>
            </a:fld>
            <a:endParaRPr lang="en-US"/>
          </a:p>
        </p:txBody>
      </p:sp>
      <p:sp>
        <p:nvSpPr>
          <p:cNvPr id="6" name="Footer Placeholder 5">
            <a:extLst>
              <a:ext uri="{FF2B5EF4-FFF2-40B4-BE49-F238E27FC236}">
                <a16:creationId xmlns:a16="http://schemas.microsoft.com/office/drawing/2014/main" id="{960FC9EB-BDE6-5448-5BCD-0606015A97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F6105D-20E2-DBA2-6137-7A306B842EF1}"/>
              </a:ext>
            </a:extLst>
          </p:cNvPr>
          <p:cNvSpPr>
            <a:spLocks noGrp="1"/>
          </p:cNvSpPr>
          <p:nvPr>
            <p:ph type="sldNum" sz="quarter" idx="12"/>
          </p:nvPr>
        </p:nvSpPr>
        <p:spPr/>
        <p:txBody>
          <a:bodyPr/>
          <a:lstStyle/>
          <a:p>
            <a:fld id="{9A65A311-5975-433A-B17A-BA59AA0103DC}" type="slidenum">
              <a:rPr lang="en-US" smtClean="0"/>
              <a:t>‹#›</a:t>
            </a:fld>
            <a:endParaRPr lang="en-US"/>
          </a:p>
        </p:txBody>
      </p:sp>
    </p:spTree>
    <p:extLst>
      <p:ext uri="{BB962C8B-B14F-4D97-AF65-F5344CB8AC3E}">
        <p14:creationId xmlns:p14="http://schemas.microsoft.com/office/powerpoint/2010/main" val="814986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924C6-96BA-B60D-DB26-1B8A3066E5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2677E0-87E3-34AA-35A4-B7CF9C2241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86EBE7-F6F7-4DFC-5FB8-C0F38D11B6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539D42-D630-3281-4A5A-8C594482BA10}"/>
              </a:ext>
            </a:extLst>
          </p:cNvPr>
          <p:cNvSpPr>
            <a:spLocks noGrp="1"/>
          </p:cNvSpPr>
          <p:nvPr>
            <p:ph type="dt" sz="half" idx="10"/>
          </p:nvPr>
        </p:nvSpPr>
        <p:spPr/>
        <p:txBody>
          <a:bodyPr/>
          <a:lstStyle/>
          <a:p>
            <a:fld id="{8266B12E-EB85-41E6-AED9-EC60A0D97A1F}" type="datetimeFigureOut">
              <a:rPr lang="en-US" smtClean="0"/>
              <a:t>11/21/2025</a:t>
            </a:fld>
            <a:endParaRPr lang="en-US"/>
          </a:p>
        </p:txBody>
      </p:sp>
      <p:sp>
        <p:nvSpPr>
          <p:cNvPr id="6" name="Footer Placeholder 5">
            <a:extLst>
              <a:ext uri="{FF2B5EF4-FFF2-40B4-BE49-F238E27FC236}">
                <a16:creationId xmlns:a16="http://schemas.microsoft.com/office/drawing/2014/main" id="{01B2D910-B18C-90C7-1A80-F717AD3D64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07CFB5-74E0-9842-8FCA-CCFB6771D530}"/>
              </a:ext>
            </a:extLst>
          </p:cNvPr>
          <p:cNvSpPr>
            <a:spLocks noGrp="1"/>
          </p:cNvSpPr>
          <p:nvPr>
            <p:ph type="sldNum" sz="quarter" idx="12"/>
          </p:nvPr>
        </p:nvSpPr>
        <p:spPr/>
        <p:txBody>
          <a:bodyPr/>
          <a:lstStyle/>
          <a:p>
            <a:fld id="{9A65A311-5975-433A-B17A-BA59AA0103DC}" type="slidenum">
              <a:rPr lang="en-US" smtClean="0"/>
              <a:t>‹#›</a:t>
            </a:fld>
            <a:endParaRPr lang="en-US"/>
          </a:p>
        </p:txBody>
      </p:sp>
    </p:spTree>
    <p:extLst>
      <p:ext uri="{BB962C8B-B14F-4D97-AF65-F5344CB8AC3E}">
        <p14:creationId xmlns:p14="http://schemas.microsoft.com/office/powerpoint/2010/main" val="2502144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9BAFD-A8D6-DEC9-3777-F0C2C019AD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053A98-A419-7737-0914-5E4A7E248C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C7DB87-9ACB-93C1-AFCC-38CBE34ADBEB}"/>
              </a:ext>
            </a:extLst>
          </p:cNvPr>
          <p:cNvSpPr>
            <a:spLocks noGrp="1"/>
          </p:cNvSpPr>
          <p:nvPr>
            <p:ph type="dt" sz="half" idx="10"/>
          </p:nvPr>
        </p:nvSpPr>
        <p:spPr/>
        <p:txBody>
          <a:bodyPr/>
          <a:lstStyle/>
          <a:p>
            <a:fld id="{8266B12E-EB85-41E6-AED9-EC60A0D97A1F}" type="datetimeFigureOut">
              <a:rPr lang="en-US" smtClean="0"/>
              <a:t>11/21/2025</a:t>
            </a:fld>
            <a:endParaRPr lang="en-US"/>
          </a:p>
        </p:txBody>
      </p:sp>
      <p:sp>
        <p:nvSpPr>
          <p:cNvPr id="5" name="Footer Placeholder 4">
            <a:extLst>
              <a:ext uri="{FF2B5EF4-FFF2-40B4-BE49-F238E27FC236}">
                <a16:creationId xmlns:a16="http://schemas.microsoft.com/office/drawing/2014/main" id="{6B74D69F-94FF-C7FD-CD9C-4C697E2F65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6D72B8-3F35-5580-53D6-E2131B752D74}"/>
              </a:ext>
            </a:extLst>
          </p:cNvPr>
          <p:cNvSpPr>
            <a:spLocks noGrp="1"/>
          </p:cNvSpPr>
          <p:nvPr>
            <p:ph type="sldNum" sz="quarter" idx="12"/>
          </p:nvPr>
        </p:nvSpPr>
        <p:spPr/>
        <p:txBody>
          <a:bodyPr/>
          <a:lstStyle/>
          <a:p>
            <a:fld id="{9A65A311-5975-433A-B17A-BA59AA0103DC}" type="slidenum">
              <a:rPr lang="en-US" smtClean="0"/>
              <a:t>‹#›</a:t>
            </a:fld>
            <a:endParaRPr lang="en-US"/>
          </a:p>
        </p:txBody>
      </p:sp>
    </p:spTree>
    <p:extLst>
      <p:ext uri="{BB962C8B-B14F-4D97-AF65-F5344CB8AC3E}">
        <p14:creationId xmlns:p14="http://schemas.microsoft.com/office/powerpoint/2010/main" val="470008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28EEC9-4424-F6AA-8D76-1482A5A5B5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726117-3FE8-D890-38D8-01909AAE20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D52EA9-967B-BF1D-3370-D6B33092AF74}"/>
              </a:ext>
            </a:extLst>
          </p:cNvPr>
          <p:cNvSpPr>
            <a:spLocks noGrp="1"/>
          </p:cNvSpPr>
          <p:nvPr>
            <p:ph type="dt" sz="half" idx="10"/>
          </p:nvPr>
        </p:nvSpPr>
        <p:spPr/>
        <p:txBody>
          <a:bodyPr/>
          <a:lstStyle/>
          <a:p>
            <a:fld id="{8266B12E-EB85-41E6-AED9-EC60A0D97A1F}" type="datetimeFigureOut">
              <a:rPr lang="en-US" smtClean="0"/>
              <a:t>11/21/2025</a:t>
            </a:fld>
            <a:endParaRPr lang="en-US"/>
          </a:p>
        </p:txBody>
      </p:sp>
      <p:sp>
        <p:nvSpPr>
          <p:cNvPr id="5" name="Footer Placeholder 4">
            <a:extLst>
              <a:ext uri="{FF2B5EF4-FFF2-40B4-BE49-F238E27FC236}">
                <a16:creationId xmlns:a16="http://schemas.microsoft.com/office/drawing/2014/main" id="{4CE647E8-DFA8-0ACC-99B0-25B2367AB4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493FE0-F028-3527-DF4C-1658AC837AAA}"/>
              </a:ext>
            </a:extLst>
          </p:cNvPr>
          <p:cNvSpPr>
            <a:spLocks noGrp="1"/>
          </p:cNvSpPr>
          <p:nvPr>
            <p:ph type="sldNum" sz="quarter" idx="12"/>
          </p:nvPr>
        </p:nvSpPr>
        <p:spPr/>
        <p:txBody>
          <a:bodyPr/>
          <a:lstStyle/>
          <a:p>
            <a:fld id="{9A65A311-5975-433A-B17A-BA59AA0103DC}" type="slidenum">
              <a:rPr lang="en-US" smtClean="0"/>
              <a:t>‹#›</a:t>
            </a:fld>
            <a:endParaRPr lang="en-US"/>
          </a:p>
        </p:txBody>
      </p:sp>
    </p:spTree>
    <p:extLst>
      <p:ext uri="{BB962C8B-B14F-4D97-AF65-F5344CB8AC3E}">
        <p14:creationId xmlns:p14="http://schemas.microsoft.com/office/powerpoint/2010/main" val="4147836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8C34A4-71B8-9FB0-A897-F1CD2E415B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5BF5CE0-2C48-78EC-71F6-766D11443F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15C6EE-5F09-49D2-EE62-9C3A86DA16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66B12E-EB85-41E6-AED9-EC60A0D97A1F}" type="datetimeFigureOut">
              <a:rPr lang="en-US" smtClean="0"/>
              <a:t>11/21/2025</a:t>
            </a:fld>
            <a:endParaRPr lang="en-US"/>
          </a:p>
        </p:txBody>
      </p:sp>
      <p:sp>
        <p:nvSpPr>
          <p:cNvPr id="5" name="Footer Placeholder 4">
            <a:extLst>
              <a:ext uri="{FF2B5EF4-FFF2-40B4-BE49-F238E27FC236}">
                <a16:creationId xmlns:a16="http://schemas.microsoft.com/office/drawing/2014/main" id="{C758855B-C2E2-0653-8EDB-68D86ADDD8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C875FBB-96E2-C2D2-7B89-07D2FBBFB8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65A311-5975-433A-B17A-BA59AA0103DC}" type="slidenum">
              <a:rPr lang="en-US" smtClean="0"/>
              <a:t>‹#›</a:t>
            </a:fld>
            <a:endParaRPr lang="en-US"/>
          </a:p>
        </p:txBody>
      </p:sp>
    </p:spTree>
    <p:extLst>
      <p:ext uri="{BB962C8B-B14F-4D97-AF65-F5344CB8AC3E}">
        <p14:creationId xmlns:p14="http://schemas.microsoft.com/office/powerpoint/2010/main" val="3171060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7BA43-37B8-BBC8-51AE-8586E32212B3}"/>
              </a:ext>
            </a:extLst>
          </p:cNvPr>
          <p:cNvSpPr>
            <a:spLocks noGrp="1"/>
          </p:cNvSpPr>
          <p:nvPr>
            <p:ph type="ctrTitle"/>
          </p:nvPr>
        </p:nvSpPr>
        <p:spPr>
          <a:xfrm>
            <a:off x="1524000" y="1122363"/>
            <a:ext cx="9144000" cy="1590858"/>
          </a:xfrm>
        </p:spPr>
        <p:txBody>
          <a:bodyPr>
            <a:normAutofit fontScale="90000"/>
          </a:bodyPr>
          <a:lstStyle/>
          <a:p>
            <a:r>
              <a:rPr lang="en-US" sz="4000" b="1" dirty="0"/>
              <a:t>Image Filtering in Spatial &amp; Frequency Domain</a:t>
            </a:r>
            <a:br>
              <a:rPr lang="en-US" sz="4000" b="1" dirty="0"/>
            </a:br>
            <a:r>
              <a:rPr lang="en-US" sz="4000" b="1" dirty="0"/>
              <a:t>Course:</a:t>
            </a:r>
            <a:r>
              <a:rPr lang="en-US" sz="4000" dirty="0"/>
              <a:t> Digital Image Processing</a:t>
            </a:r>
            <a:br>
              <a:rPr lang="en-US" dirty="0"/>
            </a:br>
            <a:endParaRPr lang="en-US" dirty="0"/>
          </a:p>
        </p:txBody>
      </p:sp>
      <p:sp>
        <p:nvSpPr>
          <p:cNvPr id="3" name="Subtitle 2">
            <a:extLst>
              <a:ext uri="{FF2B5EF4-FFF2-40B4-BE49-F238E27FC236}">
                <a16:creationId xmlns:a16="http://schemas.microsoft.com/office/drawing/2014/main" id="{78F93DD4-D121-26F5-BB88-345371AFC215}"/>
              </a:ext>
            </a:extLst>
          </p:cNvPr>
          <p:cNvSpPr>
            <a:spLocks noGrp="1"/>
          </p:cNvSpPr>
          <p:nvPr>
            <p:ph type="subTitle" idx="1"/>
          </p:nvPr>
        </p:nvSpPr>
        <p:spPr>
          <a:xfrm>
            <a:off x="1524000" y="3602038"/>
            <a:ext cx="9144000" cy="1074893"/>
          </a:xfrm>
        </p:spPr>
        <p:txBody>
          <a:bodyPr>
            <a:normAutofit fontScale="92500" lnSpcReduction="20000"/>
          </a:bodyPr>
          <a:lstStyle/>
          <a:p>
            <a:r>
              <a:rPr lang="en-US" b="1" dirty="0"/>
              <a:t>Semester:</a:t>
            </a:r>
            <a:r>
              <a:rPr lang="en-US" dirty="0"/>
              <a:t> BSCS 5th</a:t>
            </a:r>
            <a:br>
              <a:rPr lang="en-US" dirty="0"/>
            </a:br>
            <a:r>
              <a:rPr lang="en-US" b="1" dirty="0"/>
              <a:t>University:</a:t>
            </a:r>
            <a:r>
              <a:rPr lang="en-US" dirty="0"/>
              <a:t> GCUF</a:t>
            </a:r>
            <a:br>
              <a:rPr lang="en-US" dirty="0"/>
            </a:br>
            <a:r>
              <a:rPr lang="en-US" b="1" dirty="0"/>
              <a:t>Instructor: Adnan Majeed </a:t>
            </a:r>
            <a:br>
              <a:rPr lang="en-US" dirty="0"/>
            </a:br>
            <a:endParaRPr lang="en-US" dirty="0"/>
          </a:p>
        </p:txBody>
      </p:sp>
    </p:spTree>
    <p:extLst>
      <p:ext uri="{BB962C8B-B14F-4D97-AF65-F5344CB8AC3E}">
        <p14:creationId xmlns:p14="http://schemas.microsoft.com/office/powerpoint/2010/main" val="1900366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FECE9-4FF8-15E2-3EF5-116F621678EC}"/>
              </a:ext>
            </a:extLst>
          </p:cNvPr>
          <p:cNvSpPr>
            <a:spLocks noGrp="1"/>
          </p:cNvSpPr>
          <p:nvPr>
            <p:ph type="title"/>
          </p:nvPr>
        </p:nvSpPr>
        <p:spPr/>
        <p:txBody>
          <a:bodyPr/>
          <a:lstStyle/>
          <a:p>
            <a:r>
              <a:rPr lang="en-US" dirty="0"/>
              <a:t>1. INTRODUCTION TO IMAGE FILTERING</a:t>
            </a:r>
          </a:p>
        </p:txBody>
      </p:sp>
      <p:sp>
        <p:nvSpPr>
          <p:cNvPr id="3" name="Content Placeholder 2">
            <a:extLst>
              <a:ext uri="{FF2B5EF4-FFF2-40B4-BE49-F238E27FC236}">
                <a16:creationId xmlns:a16="http://schemas.microsoft.com/office/drawing/2014/main" id="{377E513E-4D07-CE34-EB7B-93B95450C418}"/>
              </a:ext>
            </a:extLst>
          </p:cNvPr>
          <p:cNvSpPr>
            <a:spLocks noGrp="1"/>
          </p:cNvSpPr>
          <p:nvPr>
            <p:ph idx="1"/>
          </p:nvPr>
        </p:nvSpPr>
        <p:spPr/>
        <p:txBody>
          <a:bodyPr>
            <a:normAutofit fontScale="92500" lnSpcReduction="10000"/>
          </a:bodyPr>
          <a:lstStyle/>
          <a:p>
            <a:r>
              <a:rPr lang="en-US" dirty="0"/>
              <a:t>Image filtering is the process of modifying or enhancing an image by applying mathematical operations to its pixels. It is mainly used for:</a:t>
            </a:r>
          </a:p>
          <a:p>
            <a:r>
              <a:rPr lang="en-US" dirty="0"/>
              <a:t>Noise removal</a:t>
            </a:r>
          </a:p>
          <a:p>
            <a:r>
              <a:rPr lang="en-US" dirty="0"/>
              <a:t>Image smoothing</a:t>
            </a:r>
          </a:p>
          <a:p>
            <a:r>
              <a:rPr lang="en-US" dirty="0"/>
              <a:t>Edge detection</a:t>
            </a:r>
          </a:p>
          <a:p>
            <a:r>
              <a:rPr lang="en-US" dirty="0"/>
              <a:t>Sharpening</a:t>
            </a:r>
          </a:p>
          <a:p>
            <a:r>
              <a:rPr lang="en-US" dirty="0"/>
              <a:t>Feature extraction</a:t>
            </a:r>
          </a:p>
          <a:p>
            <a:r>
              <a:rPr lang="en-US" dirty="0"/>
              <a:t>Filtering is performed in </a:t>
            </a:r>
            <a:r>
              <a:rPr lang="en-US" b="1" dirty="0"/>
              <a:t>two major domains</a:t>
            </a:r>
            <a:r>
              <a:rPr lang="en-US" dirty="0"/>
              <a:t>:</a:t>
            </a:r>
          </a:p>
          <a:p>
            <a:r>
              <a:rPr lang="en-US" b="1" dirty="0"/>
              <a:t>Spatial Domain</a:t>
            </a:r>
            <a:endParaRPr lang="en-US" dirty="0"/>
          </a:p>
          <a:p>
            <a:r>
              <a:rPr lang="en-US" b="1" dirty="0"/>
              <a:t>Frequency Domain</a:t>
            </a:r>
            <a:endParaRPr lang="en-US" dirty="0"/>
          </a:p>
          <a:p>
            <a:endParaRPr lang="en-US" dirty="0"/>
          </a:p>
        </p:txBody>
      </p:sp>
    </p:spTree>
    <p:extLst>
      <p:ext uri="{BB962C8B-B14F-4D97-AF65-F5344CB8AC3E}">
        <p14:creationId xmlns:p14="http://schemas.microsoft.com/office/powerpoint/2010/main" val="4040024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0027A-57DC-0B3F-23D9-A0CC26833222}"/>
              </a:ext>
            </a:extLst>
          </p:cNvPr>
          <p:cNvSpPr>
            <a:spLocks noGrp="1"/>
          </p:cNvSpPr>
          <p:nvPr>
            <p:ph type="title"/>
          </p:nvPr>
        </p:nvSpPr>
        <p:spPr/>
        <p:txBody>
          <a:bodyPr/>
          <a:lstStyle/>
          <a:p>
            <a:r>
              <a:rPr lang="en-US" dirty="0"/>
              <a:t>2. SPATIAL DOMAIN FILTERING</a:t>
            </a:r>
          </a:p>
        </p:txBody>
      </p:sp>
      <p:sp>
        <p:nvSpPr>
          <p:cNvPr id="3" name="Content Placeholder 2">
            <a:extLst>
              <a:ext uri="{FF2B5EF4-FFF2-40B4-BE49-F238E27FC236}">
                <a16:creationId xmlns:a16="http://schemas.microsoft.com/office/drawing/2014/main" id="{E7F004A4-18EB-0E53-95AC-056C9EA56E03}"/>
              </a:ext>
            </a:extLst>
          </p:cNvPr>
          <p:cNvSpPr>
            <a:spLocks noGrp="1"/>
          </p:cNvSpPr>
          <p:nvPr>
            <p:ph idx="1"/>
          </p:nvPr>
        </p:nvSpPr>
        <p:spPr/>
        <p:txBody>
          <a:bodyPr/>
          <a:lstStyle/>
          <a:p>
            <a:r>
              <a:rPr lang="en-US" dirty="0"/>
              <a:t>Spatial filtering directly operates on image pixels.</a:t>
            </a:r>
            <a:br>
              <a:rPr lang="en-US" dirty="0"/>
            </a:br>
            <a:r>
              <a:rPr lang="en-US" dirty="0"/>
              <a:t>A spatial filter consists of:</a:t>
            </a:r>
          </a:p>
          <a:p>
            <a:r>
              <a:rPr lang="en-US" dirty="0"/>
              <a:t>A </a:t>
            </a:r>
            <a:r>
              <a:rPr lang="en-US" b="1" dirty="0"/>
              <a:t>kernel / mask / filter window</a:t>
            </a:r>
            <a:r>
              <a:rPr lang="en-US" dirty="0"/>
              <a:t> (e.g., 3×3, 5×5)</a:t>
            </a:r>
          </a:p>
          <a:p>
            <a:r>
              <a:rPr lang="en-US" dirty="0"/>
              <a:t>A rule for modifying pixel values using neighbors</a:t>
            </a:r>
          </a:p>
          <a:p>
            <a:endParaRPr lang="en-US" dirty="0"/>
          </a:p>
        </p:txBody>
      </p:sp>
    </p:spTree>
    <p:extLst>
      <p:ext uri="{BB962C8B-B14F-4D97-AF65-F5344CB8AC3E}">
        <p14:creationId xmlns:p14="http://schemas.microsoft.com/office/powerpoint/2010/main" val="2062216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4EE4B34-2D51-AAB6-C2DE-2C51AF770610}"/>
              </a:ext>
            </a:extLst>
          </p:cNvPr>
          <p:cNvPicPr>
            <a:picLocks noGrp="1" noChangeAspect="1"/>
          </p:cNvPicPr>
          <p:nvPr>
            <p:ph idx="1"/>
          </p:nvPr>
        </p:nvPicPr>
        <p:blipFill>
          <a:blip r:embed="rId2"/>
          <a:stretch>
            <a:fillRect/>
          </a:stretch>
        </p:blipFill>
        <p:spPr>
          <a:xfrm>
            <a:off x="679136" y="493892"/>
            <a:ext cx="9160038" cy="3853256"/>
          </a:xfrm>
          <a:prstGeom prst="rect">
            <a:avLst/>
          </a:prstGeom>
        </p:spPr>
      </p:pic>
    </p:spTree>
    <p:extLst>
      <p:ext uri="{BB962C8B-B14F-4D97-AF65-F5344CB8AC3E}">
        <p14:creationId xmlns:p14="http://schemas.microsoft.com/office/powerpoint/2010/main" val="2347920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85AEB-8F27-0F42-9716-5F1EAAD7B418}"/>
              </a:ext>
            </a:extLst>
          </p:cNvPr>
          <p:cNvSpPr>
            <a:spLocks noGrp="1"/>
          </p:cNvSpPr>
          <p:nvPr>
            <p:ph type="title"/>
          </p:nvPr>
        </p:nvSpPr>
        <p:spPr/>
        <p:txBody>
          <a:bodyPr/>
          <a:lstStyle/>
          <a:p>
            <a:r>
              <a:rPr lang="en-US" b="1" dirty="0"/>
              <a:t>3. TYPES OF SPATIAL FILTERS</a:t>
            </a:r>
            <a:br>
              <a:rPr lang="en-US" b="1" dirty="0"/>
            </a:b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B80FD28-4328-67AE-F1CE-B1EC7747B97E}"/>
                  </a:ext>
                </a:extLst>
              </p:cNvPr>
              <p:cNvSpPr>
                <a:spLocks noGrp="1"/>
              </p:cNvSpPr>
              <p:nvPr>
                <p:ph idx="1"/>
              </p:nvPr>
            </p:nvSpPr>
            <p:spPr/>
            <p:txBody>
              <a:bodyPr/>
              <a:lstStyle/>
              <a:p>
                <a:r>
                  <a:rPr lang="en-US" b="1" dirty="0"/>
                  <a:t>3.1 Linear Filters</a:t>
                </a:r>
              </a:p>
              <a:p>
                <a:r>
                  <a:rPr lang="en-US" b="1" dirty="0"/>
                  <a:t>a) Smoothing / Averaging Filter</a:t>
                </a:r>
              </a:p>
              <a:p>
                <a:r>
                  <a:rPr lang="en-US" dirty="0"/>
                  <a:t>Reduces noise and blurs the image.</a:t>
                </a:r>
              </a:p>
              <a:p>
                <a:r>
                  <a:rPr lang="en-US" b="1" dirty="0"/>
                  <a:t>Mask example:</a:t>
                </a:r>
                <a:endParaRPr lang="en-US" dirty="0"/>
              </a:p>
              <a:p>
                <a14:m>
                  <m:oMath xmlns:m="http://schemas.openxmlformats.org/officeDocument/2006/math">
                    <m:f>
                      <m:fPr>
                        <m:ctrlPr>
                          <a:rPr lang="ar-AE"/>
                        </m:ctrlPr>
                      </m:fPr>
                      <m:num>
                        <m:r>
                          <a:rPr lang="ar-AE"/>
                          <m:t>1</m:t>
                        </m:r>
                      </m:num>
                      <m:den>
                        <m:r>
                          <a:rPr lang="ar-AE"/>
                          <m:t>9</m:t>
                        </m:r>
                      </m:den>
                    </m:f>
                    <m:d>
                      <m:dPr>
                        <m:begChr m:val="["/>
                        <m:endChr m:val="]"/>
                        <m:ctrlPr>
                          <a:rPr lang="ar-AE" i="1"/>
                        </m:ctrlPr>
                      </m:dPr>
                      <m:e>
                        <m:m>
                          <m:mPr>
                            <m:plcHide m:val="on"/>
                            <m:mcs>
                              <m:mc>
                                <m:mcPr>
                                  <m:count m:val="3"/>
                                  <m:mcJc m:val="center"/>
                                </m:mcPr>
                              </m:mc>
                            </m:mcs>
                            <m:ctrlPr>
                              <a:rPr lang="ar-AE" i="1"/>
                            </m:ctrlPr>
                          </m:mPr>
                          <m:mr>
                            <m:e>
                              <m:r>
                                <a:rPr lang="ar-AE"/>
                                <m:t>1</m:t>
                              </m:r>
                            </m:e>
                            <m:e>
                              <m:r>
                                <a:rPr lang="ar-AE"/>
                                <m:t>1</m:t>
                              </m:r>
                            </m:e>
                            <m:e>
                              <m:r>
                                <a:rPr lang="ar-AE"/>
                                <m:t>1</m:t>
                              </m:r>
                            </m:e>
                          </m:mr>
                          <m:mr>
                            <m:e>
                              <m:r>
                                <a:rPr lang="ar-AE"/>
                                <m:t>1</m:t>
                              </m:r>
                            </m:e>
                            <m:e>
                              <m:r>
                                <a:rPr lang="ar-AE"/>
                                <m:t>1</m:t>
                              </m:r>
                            </m:e>
                            <m:e>
                              <m:r>
                                <a:rPr lang="ar-AE"/>
                                <m:t>1</m:t>
                              </m:r>
                            </m:e>
                          </m:mr>
                          <m:mr>
                            <m:e>
                              <m:r>
                                <a:rPr lang="ar-AE"/>
                                <m:t>1</m:t>
                              </m:r>
                            </m:e>
                            <m:e>
                              <m:r>
                                <a:rPr lang="ar-AE"/>
                                <m:t>1</m:t>
                              </m:r>
                            </m:e>
                            <m:e>
                              <m:r>
                                <a:rPr lang="ar-AE"/>
                                <m:t>1</m:t>
                              </m:r>
                            </m:e>
                          </m:mr>
                        </m:m>
                      </m:e>
                    </m:d>
                  </m:oMath>
                </a14:m>
                <a:endParaRPr lang="ar-AE" dirty="0"/>
              </a:p>
              <a:p>
                <a:endParaRPr lang="en-US" dirty="0"/>
              </a:p>
            </p:txBody>
          </p:sp>
        </mc:Choice>
        <mc:Fallback>
          <p:sp>
            <p:nvSpPr>
              <p:cNvPr id="3" name="Content Placeholder 2">
                <a:extLst>
                  <a:ext uri="{FF2B5EF4-FFF2-40B4-BE49-F238E27FC236}">
                    <a16:creationId xmlns:a16="http://schemas.microsoft.com/office/drawing/2014/main" id="{CB80FD28-4328-67AE-F1CE-B1EC7747B97E}"/>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599624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8527A15-76D3-CB9C-3248-21BC4F5DEA0A}"/>
              </a:ext>
            </a:extLst>
          </p:cNvPr>
          <p:cNvPicPr>
            <a:picLocks noGrp="1" noChangeAspect="1"/>
          </p:cNvPicPr>
          <p:nvPr>
            <p:ph idx="1"/>
          </p:nvPr>
        </p:nvPicPr>
        <p:blipFill>
          <a:blip r:embed="rId2"/>
          <a:stretch>
            <a:fillRect/>
          </a:stretch>
        </p:blipFill>
        <p:spPr>
          <a:xfrm>
            <a:off x="1923729" y="1301252"/>
            <a:ext cx="8975498" cy="2127748"/>
          </a:xfrm>
          <a:prstGeom prst="rect">
            <a:avLst/>
          </a:prstGeom>
        </p:spPr>
      </p:pic>
    </p:spTree>
    <p:extLst>
      <p:ext uri="{BB962C8B-B14F-4D97-AF65-F5344CB8AC3E}">
        <p14:creationId xmlns:p14="http://schemas.microsoft.com/office/powerpoint/2010/main" val="1708239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33488-294F-0CF7-2DE1-B36D770A9AA7}"/>
              </a:ext>
            </a:extLst>
          </p:cNvPr>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594E904-8DC2-23FB-23A7-A14F72B16630}"/>
                  </a:ext>
                </a:extLst>
              </p:cNvPr>
              <p:cNvSpPr>
                <a:spLocks noGrp="1"/>
              </p:cNvSpPr>
              <p:nvPr>
                <p:ph idx="1"/>
              </p:nvPr>
            </p:nvSpPr>
            <p:spPr/>
            <p:txBody>
              <a:bodyPr/>
              <a:lstStyle/>
              <a:p>
                <a:r>
                  <a:rPr lang="en-US" b="1" dirty="0"/>
                  <a:t>c) Sharpening Filter – Laplacian</a:t>
                </a:r>
              </a:p>
              <a:p>
                <a:r>
                  <a:rPr lang="en-US" dirty="0"/>
                  <a:t>Enhances edges.</a:t>
                </a:r>
              </a:p>
              <a:p>
                <a14:m>
                  <m:oMath xmlns:m="http://schemas.openxmlformats.org/officeDocument/2006/math">
                    <m:d>
                      <m:dPr>
                        <m:begChr m:val="["/>
                        <m:endChr m:val="]"/>
                        <m:ctrlPr>
                          <a:rPr lang="ar-AE"/>
                        </m:ctrlPr>
                      </m:dPr>
                      <m:e>
                        <m:m>
                          <m:mPr>
                            <m:plcHide m:val="on"/>
                            <m:mcs>
                              <m:mc>
                                <m:mcPr>
                                  <m:count m:val="3"/>
                                  <m:mcJc m:val="center"/>
                                </m:mcPr>
                              </m:mc>
                            </m:mcs>
                            <m:ctrlPr>
                              <a:rPr lang="ar-AE"/>
                            </m:ctrlPr>
                          </m:mPr>
                          <m:mr>
                            <m:e>
                              <m:r>
                                <a:rPr lang="ar-AE"/>
                                <m:t>0</m:t>
                              </m:r>
                            </m:e>
                            <m:e>
                              <m:r>
                                <a:rPr lang="ar-AE"/>
                                <m:t>−</m:t>
                              </m:r>
                              <m:r>
                                <a:rPr lang="ar-AE"/>
                                <m:t>1</m:t>
                              </m:r>
                            </m:e>
                            <m:e>
                              <m:r>
                                <a:rPr lang="ar-AE"/>
                                <m:t>0</m:t>
                              </m:r>
                            </m:e>
                          </m:mr>
                          <m:mr>
                            <m:e>
                              <m:r>
                                <a:rPr lang="ar-AE"/>
                                <m:t>−</m:t>
                              </m:r>
                              <m:r>
                                <a:rPr lang="ar-AE"/>
                                <m:t>1</m:t>
                              </m:r>
                            </m:e>
                            <m:e>
                              <m:r>
                                <a:rPr lang="ar-AE"/>
                                <m:t>4</m:t>
                              </m:r>
                            </m:e>
                            <m:e>
                              <m:r>
                                <a:rPr lang="ar-AE"/>
                                <m:t>−</m:t>
                              </m:r>
                              <m:r>
                                <a:rPr lang="ar-AE"/>
                                <m:t>1</m:t>
                              </m:r>
                            </m:e>
                          </m:mr>
                          <m:mr>
                            <m:e>
                              <m:r>
                                <a:rPr lang="ar-AE"/>
                                <m:t>0</m:t>
                              </m:r>
                            </m:e>
                            <m:e>
                              <m:r>
                                <a:rPr lang="ar-AE"/>
                                <m:t>−</m:t>
                              </m:r>
                              <m:r>
                                <a:rPr lang="ar-AE"/>
                                <m:t>1</m:t>
                              </m:r>
                            </m:e>
                            <m:e>
                              <m:r>
                                <a:rPr lang="ar-AE"/>
                                <m:t>0</m:t>
                              </m:r>
                            </m:e>
                          </m:mr>
                        </m:m>
                      </m:e>
                    </m:d>
                  </m:oMath>
                </a14:m>
                <a:endParaRPr lang="ar-AE" dirty="0"/>
              </a:p>
              <a:p>
                <a:endParaRPr lang="en-US" dirty="0"/>
              </a:p>
            </p:txBody>
          </p:sp>
        </mc:Choice>
        <mc:Fallback>
          <p:sp>
            <p:nvSpPr>
              <p:cNvPr id="3" name="Content Placeholder 2">
                <a:extLst>
                  <a:ext uri="{FF2B5EF4-FFF2-40B4-BE49-F238E27FC236}">
                    <a16:creationId xmlns:a16="http://schemas.microsoft.com/office/drawing/2014/main" id="{9594E904-8DC2-23FB-23A7-A14F72B16630}"/>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4157915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95C99-8885-A57C-5A96-D23E95416AF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2B61AB-2785-FF7D-E120-7B5E3D487B3B}"/>
              </a:ext>
            </a:extLst>
          </p:cNvPr>
          <p:cNvSpPr>
            <a:spLocks noGrp="1"/>
          </p:cNvSpPr>
          <p:nvPr>
            <p:ph idx="1"/>
          </p:nvPr>
        </p:nvSpPr>
        <p:spPr/>
        <p:txBody>
          <a:bodyPr/>
          <a:lstStyle/>
          <a:p>
            <a:r>
              <a:rPr lang="en-US" b="1" dirty="0"/>
              <a:t>3.2 Non-Linear Filters</a:t>
            </a:r>
          </a:p>
          <a:p>
            <a:r>
              <a:rPr lang="en-US" b="1" dirty="0"/>
              <a:t>a) Median Filter</a:t>
            </a:r>
          </a:p>
          <a:p>
            <a:r>
              <a:rPr lang="en-US" dirty="0"/>
              <a:t>Removes salt-and-pepper noise.</a:t>
            </a:r>
          </a:p>
          <a:p>
            <a:r>
              <a:rPr lang="en-US" b="1" dirty="0"/>
              <a:t>b) Max &amp; Min Filter</a:t>
            </a:r>
          </a:p>
          <a:p>
            <a:r>
              <a:rPr lang="en-US" dirty="0"/>
              <a:t>Used in morphological operations.</a:t>
            </a:r>
          </a:p>
          <a:p>
            <a:endParaRPr lang="en-US" dirty="0"/>
          </a:p>
        </p:txBody>
      </p:sp>
    </p:spTree>
    <p:extLst>
      <p:ext uri="{BB962C8B-B14F-4D97-AF65-F5344CB8AC3E}">
        <p14:creationId xmlns:p14="http://schemas.microsoft.com/office/powerpoint/2010/main" val="2598813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A80CE-DB75-3B8B-0CEB-5C1BD305507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41F977-CDAA-513E-8286-EE6FD227A69D}"/>
              </a:ext>
            </a:extLst>
          </p:cNvPr>
          <p:cNvSpPr>
            <a:spLocks noGrp="1"/>
          </p:cNvSpPr>
          <p:nvPr>
            <p:ph idx="1"/>
          </p:nvPr>
        </p:nvSpPr>
        <p:spPr/>
        <p:txBody>
          <a:bodyPr/>
          <a:lstStyle/>
          <a:p>
            <a:r>
              <a:rPr lang="en-US" b="1" dirty="0"/>
              <a:t>4. FREQUENCY DOMAIN FILTERING</a:t>
            </a:r>
          </a:p>
          <a:p>
            <a:r>
              <a:rPr lang="en-US" dirty="0"/>
              <a:t>Frequency domain represents an image using sinusoidal components.</a:t>
            </a:r>
          </a:p>
          <a:p>
            <a:r>
              <a:rPr lang="en-US" dirty="0"/>
              <a:t>Steps:</a:t>
            </a:r>
          </a:p>
          <a:p>
            <a:r>
              <a:rPr lang="en-US" dirty="0"/>
              <a:t>Convert image to frequency domain using </a:t>
            </a:r>
            <a:r>
              <a:rPr lang="en-US" b="1" dirty="0"/>
              <a:t>DFT</a:t>
            </a:r>
            <a:endParaRPr lang="en-US" dirty="0"/>
          </a:p>
          <a:p>
            <a:r>
              <a:rPr lang="en-US" dirty="0"/>
              <a:t>Apply Filter (Low-pass, high-pass, band-pass)</a:t>
            </a:r>
          </a:p>
          <a:p>
            <a:r>
              <a:rPr lang="en-US" dirty="0"/>
              <a:t>Convert back using </a:t>
            </a:r>
            <a:r>
              <a:rPr lang="en-US" b="1" dirty="0"/>
              <a:t>IDFT</a:t>
            </a:r>
            <a:endParaRPr lang="en-US" dirty="0"/>
          </a:p>
          <a:p>
            <a:endParaRPr lang="en-US" dirty="0"/>
          </a:p>
        </p:txBody>
      </p:sp>
    </p:spTree>
    <p:extLst>
      <p:ext uri="{BB962C8B-B14F-4D97-AF65-F5344CB8AC3E}">
        <p14:creationId xmlns:p14="http://schemas.microsoft.com/office/powerpoint/2010/main" val="573080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3EDB1-7136-1A9E-F175-0431F4BC9E5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442D026-1403-61D2-E264-7F494F290B95}"/>
              </a:ext>
            </a:extLst>
          </p:cNvPr>
          <p:cNvPicPr>
            <a:picLocks noGrp="1" noChangeAspect="1"/>
          </p:cNvPicPr>
          <p:nvPr>
            <p:ph idx="1"/>
          </p:nvPr>
        </p:nvPicPr>
        <p:blipFill>
          <a:blip r:embed="rId2"/>
          <a:stretch>
            <a:fillRect/>
          </a:stretch>
        </p:blipFill>
        <p:spPr>
          <a:xfrm>
            <a:off x="477014" y="2524694"/>
            <a:ext cx="11237972" cy="1808611"/>
          </a:xfrm>
          <a:prstGeom prst="rect">
            <a:avLst/>
          </a:prstGeom>
        </p:spPr>
      </p:pic>
    </p:spTree>
    <p:extLst>
      <p:ext uri="{BB962C8B-B14F-4D97-AF65-F5344CB8AC3E}">
        <p14:creationId xmlns:p14="http://schemas.microsoft.com/office/powerpoint/2010/main" val="4198854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3658B-D099-3E73-E919-4BEF0BF7CB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66B966-FAD0-6FDE-6650-65DCD1DB9E4A}"/>
              </a:ext>
            </a:extLst>
          </p:cNvPr>
          <p:cNvSpPr>
            <a:spLocks noGrp="1"/>
          </p:cNvSpPr>
          <p:nvPr>
            <p:ph idx="1"/>
          </p:nvPr>
        </p:nvSpPr>
        <p:spPr/>
        <p:txBody>
          <a:bodyPr/>
          <a:lstStyle/>
          <a:p>
            <a:r>
              <a:rPr lang="en-US" b="1" dirty="0"/>
              <a:t>5. TYPES OF FREQUENCY DOMAIN FILTERS</a:t>
            </a:r>
          </a:p>
          <a:p>
            <a:r>
              <a:rPr lang="en-US" b="1" dirty="0"/>
              <a:t>5.1 Low Pass Filter (LPF)</a:t>
            </a:r>
          </a:p>
          <a:p>
            <a:r>
              <a:rPr lang="en-US" dirty="0"/>
              <a:t>Keeps low frequencies → smooth image.</a:t>
            </a:r>
          </a:p>
          <a:p>
            <a:r>
              <a:rPr lang="en-US" b="1" dirty="0"/>
              <a:t>5.2 High Pass Filter (HPF)</a:t>
            </a:r>
          </a:p>
          <a:p>
            <a:r>
              <a:rPr lang="en-US" dirty="0"/>
              <a:t>Keeps high frequencies → sharp edges.</a:t>
            </a:r>
          </a:p>
          <a:p>
            <a:r>
              <a:rPr lang="en-US" b="1" dirty="0"/>
              <a:t>5.3 Bandpass Filter</a:t>
            </a:r>
          </a:p>
          <a:p>
            <a:r>
              <a:rPr lang="en-US" dirty="0"/>
              <a:t>Allows mid-frequency components.</a:t>
            </a:r>
          </a:p>
          <a:p>
            <a:endParaRPr lang="en-US" dirty="0"/>
          </a:p>
        </p:txBody>
      </p:sp>
    </p:spTree>
    <p:extLst>
      <p:ext uri="{BB962C8B-B14F-4D97-AF65-F5344CB8AC3E}">
        <p14:creationId xmlns:p14="http://schemas.microsoft.com/office/powerpoint/2010/main" val="1905057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CC26E-1CC0-CC03-9586-B1E5603FF6E4}"/>
              </a:ext>
            </a:extLst>
          </p:cNvPr>
          <p:cNvSpPr>
            <a:spLocks noGrp="1"/>
          </p:cNvSpPr>
          <p:nvPr>
            <p:ph type="title"/>
          </p:nvPr>
        </p:nvSpPr>
        <p:spPr/>
        <p:txBody>
          <a:bodyPr/>
          <a:lstStyle/>
          <a:p>
            <a:r>
              <a:rPr lang="en-US" dirty="0"/>
              <a:t>6. IDEAL, GAUSSIAN &amp; BUTTERWORTH FILTERS</a:t>
            </a:r>
          </a:p>
        </p:txBody>
      </p:sp>
      <p:pic>
        <p:nvPicPr>
          <p:cNvPr id="5" name="Content Placeholder 4">
            <a:extLst>
              <a:ext uri="{FF2B5EF4-FFF2-40B4-BE49-F238E27FC236}">
                <a16:creationId xmlns:a16="http://schemas.microsoft.com/office/drawing/2014/main" id="{1668544E-B497-D09E-DDB8-B577D168502C}"/>
              </a:ext>
            </a:extLst>
          </p:cNvPr>
          <p:cNvPicPr>
            <a:picLocks noGrp="1" noChangeAspect="1"/>
          </p:cNvPicPr>
          <p:nvPr>
            <p:ph idx="1"/>
          </p:nvPr>
        </p:nvPicPr>
        <p:blipFill>
          <a:blip r:embed="rId2"/>
          <a:stretch>
            <a:fillRect/>
          </a:stretch>
        </p:blipFill>
        <p:spPr>
          <a:xfrm>
            <a:off x="2308486" y="2016545"/>
            <a:ext cx="6959782" cy="3647093"/>
          </a:xfrm>
          <a:prstGeom prst="rect">
            <a:avLst/>
          </a:prstGeom>
        </p:spPr>
      </p:pic>
    </p:spTree>
    <p:extLst>
      <p:ext uri="{BB962C8B-B14F-4D97-AF65-F5344CB8AC3E}">
        <p14:creationId xmlns:p14="http://schemas.microsoft.com/office/powerpoint/2010/main" val="2126305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44E19-B356-705E-2FFB-311B01CD4A56}"/>
              </a:ext>
            </a:extLst>
          </p:cNvPr>
          <p:cNvSpPr>
            <a:spLocks noGrp="1"/>
          </p:cNvSpPr>
          <p:nvPr>
            <p:ph type="title"/>
          </p:nvPr>
        </p:nvSpPr>
        <p:spPr/>
        <p:txBody>
          <a:bodyPr/>
          <a:lstStyle/>
          <a:p>
            <a:r>
              <a:rPr lang="en-US" dirty="0"/>
              <a:t>7. PRACTICALS USING PYTHON (OpenCV, NumPy, Matplotlib)</a:t>
            </a:r>
          </a:p>
        </p:txBody>
      </p:sp>
      <p:sp>
        <p:nvSpPr>
          <p:cNvPr id="3" name="Content Placeholder 2">
            <a:extLst>
              <a:ext uri="{FF2B5EF4-FFF2-40B4-BE49-F238E27FC236}">
                <a16:creationId xmlns:a16="http://schemas.microsoft.com/office/drawing/2014/main" id="{B2B01385-FEAC-5A82-CF6B-3F683F81CA2B}"/>
              </a:ext>
            </a:extLst>
          </p:cNvPr>
          <p:cNvSpPr>
            <a:spLocks noGrp="1"/>
          </p:cNvSpPr>
          <p:nvPr>
            <p:ph idx="1"/>
          </p:nvPr>
        </p:nvSpPr>
        <p:spPr/>
        <p:txBody>
          <a:bodyPr>
            <a:normAutofit fontScale="92500" lnSpcReduction="20000"/>
          </a:bodyPr>
          <a:lstStyle/>
          <a:p>
            <a:r>
              <a:rPr lang="en-US" dirty="0"/>
              <a:t>✅ </a:t>
            </a:r>
            <a:r>
              <a:rPr lang="en-US" b="1" dirty="0"/>
              <a:t>7.1 Spatial Domain Filtering – Python Code</a:t>
            </a:r>
          </a:p>
          <a:p>
            <a:r>
              <a:rPr lang="en-US" dirty="0"/>
              <a:t>import cv2</a:t>
            </a:r>
          </a:p>
          <a:p>
            <a:r>
              <a:rPr lang="en-US" dirty="0"/>
              <a:t>import </a:t>
            </a:r>
            <a:r>
              <a:rPr lang="en-US" dirty="0" err="1"/>
              <a:t>numpy</a:t>
            </a:r>
            <a:r>
              <a:rPr lang="en-US" dirty="0"/>
              <a:t> as np</a:t>
            </a:r>
          </a:p>
          <a:p>
            <a:r>
              <a:rPr lang="en-US" dirty="0"/>
              <a:t>import </a:t>
            </a:r>
            <a:r>
              <a:rPr lang="en-US" dirty="0" err="1"/>
              <a:t>matplotlib.pyplot</a:t>
            </a:r>
            <a:r>
              <a:rPr lang="en-US" dirty="0"/>
              <a:t> as </a:t>
            </a:r>
            <a:r>
              <a:rPr lang="en-US" dirty="0" err="1"/>
              <a:t>plt</a:t>
            </a:r>
            <a:endParaRPr lang="en-US" dirty="0"/>
          </a:p>
          <a:p>
            <a:endParaRPr lang="en-US" dirty="0"/>
          </a:p>
          <a:p>
            <a:r>
              <a:rPr lang="en-US" dirty="0" err="1"/>
              <a:t>img</a:t>
            </a:r>
            <a:r>
              <a:rPr lang="en-US" dirty="0"/>
              <a:t> = cv2.imread('lena.png', 0)</a:t>
            </a:r>
          </a:p>
          <a:p>
            <a:endParaRPr lang="en-US" dirty="0"/>
          </a:p>
          <a:p>
            <a:r>
              <a:rPr lang="en-US" dirty="0" err="1"/>
              <a:t>plt.imshow</a:t>
            </a:r>
            <a:r>
              <a:rPr lang="en-US" dirty="0"/>
              <a:t>(</a:t>
            </a:r>
            <a:r>
              <a:rPr lang="en-US" dirty="0" err="1"/>
              <a:t>img</a:t>
            </a:r>
            <a:r>
              <a:rPr lang="en-US" dirty="0"/>
              <a:t>, </a:t>
            </a:r>
            <a:r>
              <a:rPr lang="en-US" dirty="0" err="1"/>
              <a:t>cmap</a:t>
            </a:r>
            <a:r>
              <a:rPr lang="en-US" dirty="0"/>
              <a:t>='gray')</a:t>
            </a:r>
          </a:p>
          <a:p>
            <a:r>
              <a:rPr lang="en-US" dirty="0" err="1"/>
              <a:t>plt.title</a:t>
            </a:r>
            <a:r>
              <a:rPr lang="en-US" dirty="0"/>
              <a:t>("Original Image")</a:t>
            </a:r>
          </a:p>
          <a:p>
            <a:r>
              <a:rPr lang="en-US" dirty="0" err="1"/>
              <a:t>plt.show</a:t>
            </a:r>
            <a:r>
              <a:rPr lang="en-US" dirty="0"/>
              <a:t>()</a:t>
            </a:r>
          </a:p>
          <a:p>
            <a:endParaRPr lang="en-US" dirty="0"/>
          </a:p>
        </p:txBody>
      </p:sp>
    </p:spTree>
    <p:extLst>
      <p:ext uri="{BB962C8B-B14F-4D97-AF65-F5344CB8AC3E}">
        <p14:creationId xmlns:p14="http://schemas.microsoft.com/office/powerpoint/2010/main" val="2246761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1D732-6DD7-B920-71D1-77925C51E9CA}"/>
              </a:ext>
            </a:extLst>
          </p:cNvPr>
          <p:cNvSpPr>
            <a:spLocks noGrp="1"/>
          </p:cNvSpPr>
          <p:nvPr>
            <p:ph type="title"/>
          </p:nvPr>
        </p:nvSpPr>
        <p:spPr/>
        <p:txBody>
          <a:bodyPr/>
          <a:lstStyle/>
          <a:p>
            <a:r>
              <a:rPr lang="en-US" dirty="0"/>
              <a:t>(b) Averaging Filter</a:t>
            </a:r>
          </a:p>
        </p:txBody>
      </p:sp>
      <p:sp>
        <p:nvSpPr>
          <p:cNvPr id="3" name="Content Placeholder 2">
            <a:extLst>
              <a:ext uri="{FF2B5EF4-FFF2-40B4-BE49-F238E27FC236}">
                <a16:creationId xmlns:a16="http://schemas.microsoft.com/office/drawing/2014/main" id="{F5A88A76-B854-1E36-97A0-31A275BE45D1}"/>
              </a:ext>
            </a:extLst>
          </p:cNvPr>
          <p:cNvSpPr>
            <a:spLocks noGrp="1"/>
          </p:cNvSpPr>
          <p:nvPr>
            <p:ph idx="1"/>
          </p:nvPr>
        </p:nvSpPr>
        <p:spPr>
          <a:xfrm>
            <a:off x="358515" y="1690688"/>
            <a:ext cx="10515600" cy="4351338"/>
          </a:xfrm>
        </p:spPr>
        <p:txBody>
          <a:bodyPr/>
          <a:lstStyle/>
          <a:p>
            <a:r>
              <a:rPr lang="en-US" dirty="0"/>
              <a:t>kernel = </a:t>
            </a:r>
            <a:r>
              <a:rPr lang="en-US" dirty="0" err="1"/>
              <a:t>np.ones</a:t>
            </a:r>
            <a:r>
              <a:rPr lang="en-US" dirty="0"/>
              <a:t>((5,5), np.float32) / 25</a:t>
            </a:r>
          </a:p>
          <a:p>
            <a:r>
              <a:rPr lang="en-US" dirty="0"/>
              <a:t>avg = cv2.filter2D(</a:t>
            </a:r>
            <a:r>
              <a:rPr lang="en-US" dirty="0" err="1"/>
              <a:t>img</a:t>
            </a:r>
            <a:r>
              <a:rPr lang="en-US" dirty="0"/>
              <a:t>, -1, kernel)</a:t>
            </a:r>
          </a:p>
          <a:p>
            <a:endParaRPr lang="en-US" dirty="0"/>
          </a:p>
          <a:p>
            <a:r>
              <a:rPr lang="en-US" dirty="0" err="1"/>
              <a:t>plt.imshow</a:t>
            </a:r>
            <a:r>
              <a:rPr lang="en-US" dirty="0"/>
              <a:t>(avg, </a:t>
            </a:r>
            <a:r>
              <a:rPr lang="en-US" dirty="0" err="1"/>
              <a:t>cmap</a:t>
            </a:r>
            <a:r>
              <a:rPr lang="en-US" dirty="0"/>
              <a:t>='gray')</a:t>
            </a:r>
          </a:p>
          <a:p>
            <a:r>
              <a:rPr lang="en-US" dirty="0" err="1"/>
              <a:t>plt.title</a:t>
            </a:r>
            <a:r>
              <a:rPr lang="en-US" dirty="0"/>
              <a:t>("Averaging Filter")</a:t>
            </a:r>
          </a:p>
          <a:p>
            <a:r>
              <a:rPr lang="en-US" dirty="0" err="1"/>
              <a:t>plt.show</a:t>
            </a:r>
            <a:r>
              <a:rPr lang="en-US" dirty="0"/>
              <a:t>()</a:t>
            </a:r>
          </a:p>
          <a:p>
            <a:endParaRPr lang="en-US" dirty="0"/>
          </a:p>
        </p:txBody>
      </p:sp>
    </p:spTree>
    <p:extLst>
      <p:ext uri="{BB962C8B-B14F-4D97-AF65-F5344CB8AC3E}">
        <p14:creationId xmlns:p14="http://schemas.microsoft.com/office/powerpoint/2010/main" val="2832851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ECF16-AAB3-A5D9-30B8-F6F923F26117}"/>
              </a:ext>
            </a:extLst>
          </p:cNvPr>
          <p:cNvSpPr>
            <a:spLocks noGrp="1"/>
          </p:cNvSpPr>
          <p:nvPr>
            <p:ph type="title"/>
          </p:nvPr>
        </p:nvSpPr>
        <p:spPr/>
        <p:txBody>
          <a:bodyPr/>
          <a:lstStyle/>
          <a:p>
            <a:r>
              <a:rPr lang="en-US" dirty="0"/>
              <a:t>c) Gaussian Filter</a:t>
            </a:r>
          </a:p>
        </p:txBody>
      </p:sp>
      <p:sp>
        <p:nvSpPr>
          <p:cNvPr id="3" name="Content Placeholder 2">
            <a:extLst>
              <a:ext uri="{FF2B5EF4-FFF2-40B4-BE49-F238E27FC236}">
                <a16:creationId xmlns:a16="http://schemas.microsoft.com/office/drawing/2014/main" id="{E5D71B35-2C29-E6DC-B0BF-33E88FADF75F}"/>
              </a:ext>
            </a:extLst>
          </p:cNvPr>
          <p:cNvSpPr>
            <a:spLocks noGrp="1"/>
          </p:cNvSpPr>
          <p:nvPr>
            <p:ph idx="1"/>
          </p:nvPr>
        </p:nvSpPr>
        <p:spPr/>
        <p:txBody>
          <a:bodyPr/>
          <a:lstStyle/>
          <a:p>
            <a:r>
              <a:rPr lang="en-US" dirty="0"/>
              <a:t>gauss = cv2.GaussianBlur(</a:t>
            </a:r>
            <a:r>
              <a:rPr lang="en-US" dirty="0" err="1"/>
              <a:t>img</a:t>
            </a:r>
            <a:r>
              <a:rPr lang="en-US" dirty="0"/>
              <a:t>, (5, 5), 0)</a:t>
            </a:r>
          </a:p>
          <a:p>
            <a:endParaRPr lang="en-US" dirty="0"/>
          </a:p>
          <a:p>
            <a:r>
              <a:rPr lang="en-US" dirty="0" err="1"/>
              <a:t>plt.imshow</a:t>
            </a:r>
            <a:r>
              <a:rPr lang="en-US" dirty="0"/>
              <a:t>(gauss, </a:t>
            </a:r>
            <a:r>
              <a:rPr lang="en-US" dirty="0" err="1"/>
              <a:t>cmap</a:t>
            </a:r>
            <a:r>
              <a:rPr lang="en-US" dirty="0"/>
              <a:t>='gray')</a:t>
            </a:r>
          </a:p>
          <a:p>
            <a:r>
              <a:rPr lang="en-US" dirty="0" err="1"/>
              <a:t>plt.title</a:t>
            </a:r>
            <a:r>
              <a:rPr lang="en-US" dirty="0"/>
              <a:t>("Gaussian Filter")</a:t>
            </a:r>
          </a:p>
          <a:p>
            <a:r>
              <a:rPr lang="en-US" dirty="0" err="1"/>
              <a:t>plt.show</a:t>
            </a:r>
            <a:r>
              <a:rPr lang="en-US" dirty="0"/>
              <a:t>()</a:t>
            </a:r>
          </a:p>
          <a:p>
            <a:endParaRPr lang="en-US" dirty="0"/>
          </a:p>
        </p:txBody>
      </p:sp>
    </p:spTree>
    <p:extLst>
      <p:ext uri="{BB962C8B-B14F-4D97-AF65-F5344CB8AC3E}">
        <p14:creationId xmlns:p14="http://schemas.microsoft.com/office/powerpoint/2010/main" val="4231325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1FCBA-C6B4-D5FA-9B21-8B8D42EB0313}"/>
              </a:ext>
            </a:extLst>
          </p:cNvPr>
          <p:cNvSpPr>
            <a:spLocks noGrp="1"/>
          </p:cNvSpPr>
          <p:nvPr>
            <p:ph type="title"/>
          </p:nvPr>
        </p:nvSpPr>
        <p:spPr/>
        <p:txBody>
          <a:bodyPr/>
          <a:lstStyle/>
          <a:p>
            <a:r>
              <a:rPr lang="en-US" dirty="0"/>
              <a:t>(d) Median Filter</a:t>
            </a:r>
          </a:p>
        </p:txBody>
      </p:sp>
      <p:sp>
        <p:nvSpPr>
          <p:cNvPr id="3" name="Content Placeholder 2">
            <a:extLst>
              <a:ext uri="{FF2B5EF4-FFF2-40B4-BE49-F238E27FC236}">
                <a16:creationId xmlns:a16="http://schemas.microsoft.com/office/drawing/2014/main" id="{0B91D16B-7E39-6D3C-CBE2-8E2F99786951}"/>
              </a:ext>
            </a:extLst>
          </p:cNvPr>
          <p:cNvSpPr>
            <a:spLocks noGrp="1"/>
          </p:cNvSpPr>
          <p:nvPr>
            <p:ph idx="1"/>
          </p:nvPr>
        </p:nvSpPr>
        <p:spPr/>
        <p:txBody>
          <a:bodyPr/>
          <a:lstStyle/>
          <a:p>
            <a:r>
              <a:rPr lang="en-US" dirty="0"/>
              <a:t>median = cv2.medianBlur(</a:t>
            </a:r>
            <a:r>
              <a:rPr lang="en-US" dirty="0" err="1"/>
              <a:t>img</a:t>
            </a:r>
            <a:r>
              <a:rPr lang="en-US" dirty="0"/>
              <a:t>, 5)</a:t>
            </a:r>
          </a:p>
          <a:p>
            <a:endParaRPr lang="en-US" dirty="0"/>
          </a:p>
          <a:p>
            <a:r>
              <a:rPr lang="en-US" dirty="0" err="1"/>
              <a:t>plt.imshow</a:t>
            </a:r>
            <a:r>
              <a:rPr lang="en-US" dirty="0"/>
              <a:t>(median, </a:t>
            </a:r>
            <a:r>
              <a:rPr lang="en-US" dirty="0" err="1"/>
              <a:t>cmap</a:t>
            </a:r>
            <a:r>
              <a:rPr lang="en-US" dirty="0"/>
              <a:t>='gray')</a:t>
            </a:r>
          </a:p>
          <a:p>
            <a:r>
              <a:rPr lang="en-US" dirty="0" err="1"/>
              <a:t>plt.title</a:t>
            </a:r>
            <a:r>
              <a:rPr lang="en-US" dirty="0"/>
              <a:t>("Median Filter")</a:t>
            </a:r>
          </a:p>
          <a:p>
            <a:r>
              <a:rPr lang="en-US" dirty="0" err="1"/>
              <a:t>plt.show</a:t>
            </a:r>
            <a:r>
              <a:rPr lang="en-US" dirty="0"/>
              <a:t>()</a:t>
            </a:r>
          </a:p>
          <a:p>
            <a:endParaRPr lang="en-US" dirty="0"/>
          </a:p>
        </p:txBody>
      </p:sp>
    </p:spTree>
    <p:extLst>
      <p:ext uri="{BB962C8B-B14F-4D97-AF65-F5344CB8AC3E}">
        <p14:creationId xmlns:p14="http://schemas.microsoft.com/office/powerpoint/2010/main" val="160429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93C5A-E7C2-3664-7F56-609014070D09}"/>
              </a:ext>
            </a:extLst>
          </p:cNvPr>
          <p:cNvSpPr>
            <a:spLocks noGrp="1"/>
          </p:cNvSpPr>
          <p:nvPr>
            <p:ph type="title"/>
          </p:nvPr>
        </p:nvSpPr>
        <p:spPr/>
        <p:txBody>
          <a:bodyPr/>
          <a:lstStyle/>
          <a:p>
            <a:r>
              <a:rPr lang="en-US" dirty="0"/>
              <a:t>(e) Laplacian Sharpening</a:t>
            </a:r>
          </a:p>
        </p:txBody>
      </p:sp>
      <p:sp>
        <p:nvSpPr>
          <p:cNvPr id="3" name="Content Placeholder 2">
            <a:extLst>
              <a:ext uri="{FF2B5EF4-FFF2-40B4-BE49-F238E27FC236}">
                <a16:creationId xmlns:a16="http://schemas.microsoft.com/office/drawing/2014/main" id="{C76BDB8B-549E-D320-331C-63AC3174C0A7}"/>
              </a:ext>
            </a:extLst>
          </p:cNvPr>
          <p:cNvSpPr>
            <a:spLocks noGrp="1"/>
          </p:cNvSpPr>
          <p:nvPr>
            <p:ph idx="1"/>
          </p:nvPr>
        </p:nvSpPr>
        <p:spPr/>
        <p:txBody>
          <a:bodyPr/>
          <a:lstStyle/>
          <a:p>
            <a:r>
              <a:rPr lang="en-US" dirty="0"/>
              <a:t>lap = cv2.Laplacian(</a:t>
            </a:r>
            <a:r>
              <a:rPr lang="en-US" dirty="0" err="1"/>
              <a:t>img</a:t>
            </a:r>
            <a:r>
              <a:rPr lang="en-US" dirty="0"/>
              <a:t>, cv2.CV_64F)</a:t>
            </a:r>
          </a:p>
          <a:p>
            <a:r>
              <a:rPr lang="en-US" dirty="0"/>
              <a:t>lap = np.uint8(</a:t>
            </a:r>
            <a:r>
              <a:rPr lang="en-US" dirty="0" err="1"/>
              <a:t>np.absolute</a:t>
            </a:r>
            <a:r>
              <a:rPr lang="en-US" dirty="0"/>
              <a:t>(lap))</a:t>
            </a:r>
          </a:p>
          <a:p>
            <a:endParaRPr lang="en-US" dirty="0"/>
          </a:p>
          <a:p>
            <a:r>
              <a:rPr lang="en-US" dirty="0" err="1"/>
              <a:t>plt.imshow</a:t>
            </a:r>
            <a:r>
              <a:rPr lang="en-US" dirty="0"/>
              <a:t>(lap, </a:t>
            </a:r>
            <a:r>
              <a:rPr lang="en-US" dirty="0" err="1"/>
              <a:t>cmap</a:t>
            </a:r>
            <a:r>
              <a:rPr lang="en-US" dirty="0"/>
              <a:t>='gray')</a:t>
            </a:r>
          </a:p>
          <a:p>
            <a:r>
              <a:rPr lang="en-US" dirty="0" err="1"/>
              <a:t>plt.title</a:t>
            </a:r>
            <a:r>
              <a:rPr lang="en-US" dirty="0"/>
              <a:t>("Laplacian Sharpening")</a:t>
            </a:r>
          </a:p>
          <a:p>
            <a:r>
              <a:rPr lang="en-US" dirty="0" err="1"/>
              <a:t>plt.show</a:t>
            </a:r>
            <a:r>
              <a:rPr lang="en-US" dirty="0"/>
              <a:t>()</a:t>
            </a:r>
          </a:p>
          <a:p>
            <a:endParaRPr lang="en-US" dirty="0"/>
          </a:p>
        </p:txBody>
      </p:sp>
    </p:spTree>
    <p:extLst>
      <p:ext uri="{BB962C8B-B14F-4D97-AF65-F5344CB8AC3E}">
        <p14:creationId xmlns:p14="http://schemas.microsoft.com/office/powerpoint/2010/main" val="1341125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9C335-E067-3623-E08A-BB1FFC808073}"/>
              </a:ext>
            </a:extLst>
          </p:cNvPr>
          <p:cNvSpPr>
            <a:spLocks noGrp="1"/>
          </p:cNvSpPr>
          <p:nvPr>
            <p:ph type="title"/>
          </p:nvPr>
        </p:nvSpPr>
        <p:spPr/>
        <p:txBody>
          <a:bodyPr/>
          <a:lstStyle/>
          <a:p>
            <a:r>
              <a:rPr lang="en-US" dirty="0"/>
              <a:t>✅ 7.2 Frequency Domain Filtering – Python Code</a:t>
            </a:r>
          </a:p>
        </p:txBody>
      </p:sp>
      <p:sp>
        <p:nvSpPr>
          <p:cNvPr id="3" name="Content Placeholder 2">
            <a:extLst>
              <a:ext uri="{FF2B5EF4-FFF2-40B4-BE49-F238E27FC236}">
                <a16:creationId xmlns:a16="http://schemas.microsoft.com/office/drawing/2014/main" id="{89CF0F40-62B2-1AA1-20E1-2887A961C2F5}"/>
              </a:ext>
            </a:extLst>
          </p:cNvPr>
          <p:cNvSpPr>
            <a:spLocks noGrp="1"/>
          </p:cNvSpPr>
          <p:nvPr>
            <p:ph idx="1"/>
          </p:nvPr>
        </p:nvSpPr>
        <p:spPr/>
        <p:txBody>
          <a:bodyPr/>
          <a:lstStyle/>
          <a:p>
            <a:r>
              <a:rPr lang="en-US" dirty="0"/>
              <a:t>(a) Fourier Transform</a:t>
            </a:r>
          </a:p>
          <a:p>
            <a:pPr marL="0" indent="0">
              <a:buNone/>
            </a:pPr>
            <a:r>
              <a:rPr lang="en-US" dirty="0"/>
              <a:t>f = np.fft.fft2(</a:t>
            </a:r>
            <a:r>
              <a:rPr lang="en-US" dirty="0" err="1"/>
              <a:t>img</a:t>
            </a:r>
            <a:r>
              <a:rPr lang="en-US" dirty="0"/>
              <a:t>)</a:t>
            </a:r>
          </a:p>
          <a:p>
            <a:pPr marL="0" indent="0">
              <a:buNone/>
            </a:pPr>
            <a:r>
              <a:rPr lang="en-US" dirty="0" err="1"/>
              <a:t>fshift</a:t>
            </a:r>
            <a:r>
              <a:rPr lang="en-US" dirty="0"/>
              <a:t> = </a:t>
            </a:r>
            <a:r>
              <a:rPr lang="en-US" dirty="0" err="1"/>
              <a:t>np.fft.fftshift</a:t>
            </a:r>
            <a:r>
              <a:rPr lang="en-US" dirty="0"/>
              <a:t>(f)</a:t>
            </a:r>
          </a:p>
          <a:p>
            <a:pPr marL="0" indent="0">
              <a:buNone/>
            </a:pPr>
            <a:r>
              <a:rPr lang="en-US" dirty="0"/>
              <a:t>magnitude = 20*np.log(</a:t>
            </a:r>
            <a:r>
              <a:rPr lang="en-US" dirty="0" err="1"/>
              <a:t>np.abs</a:t>
            </a:r>
            <a:r>
              <a:rPr lang="en-US" dirty="0"/>
              <a:t>(</a:t>
            </a:r>
            <a:r>
              <a:rPr lang="en-US" dirty="0" err="1"/>
              <a:t>fshift</a:t>
            </a:r>
            <a:r>
              <a:rPr lang="en-US" dirty="0"/>
              <a:t>))</a:t>
            </a:r>
          </a:p>
          <a:p>
            <a:pPr marL="0" indent="0">
              <a:buNone/>
            </a:pPr>
            <a:endParaRPr lang="en-US" dirty="0"/>
          </a:p>
          <a:p>
            <a:pPr marL="0" indent="0">
              <a:buNone/>
            </a:pPr>
            <a:r>
              <a:rPr lang="en-US" dirty="0" err="1"/>
              <a:t>plt.imshow</a:t>
            </a:r>
            <a:r>
              <a:rPr lang="en-US" dirty="0"/>
              <a:t>(magnitude, </a:t>
            </a:r>
            <a:r>
              <a:rPr lang="en-US" dirty="0" err="1"/>
              <a:t>cmap</a:t>
            </a:r>
            <a:r>
              <a:rPr lang="en-US" dirty="0"/>
              <a:t>='gray')</a:t>
            </a:r>
          </a:p>
          <a:p>
            <a:pPr marL="0" indent="0">
              <a:buNone/>
            </a:pPr>
            <a:r>
              <a:rPr lang="en-US" dirty="0" err="1"/>
              <a:t>plt.title</a:t>
            </a:r>
            <a:r>
              <a:rPr lang="en-US" dirty="0"/>
              <a:t>("Fourier Spectrum")</a:t>
            </a:r>
          </a:p>
          <a:p>
            <a:pPr marL="0" indent="0">
              <a:buNone/>
            </a:pPr>
            <a:r>
              <a:rPr lang="en-US" dirty="0" err="1"/>
              <a:t>plt.show</a:t>
            </a:r>
            <a:r>
              <a:rPr lang="en-US" dirty="0"/>
              <a:t>()</a:t>
            </a:r>
          </a:p>
          <a:p>
            <a:pPr marL="0" indent="0">
              <a:buNone/>
            </a:pPr>
            <a:endParaRPr lang="en-US" dirty="0"/>
          </a:p>
        </p:txBody>
      </p:sp>
    </p:spTree>
    <p:extLst>
      <p:ext uri="{BB962C8B-B14F-4D97-AF65-F5344CB8AC3E}">
        <p14:creationId xmlns:p14="http://schemas.microsoft.com/office/powerpoint/2010/main" val="1370547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F30A5-0D75-36AE-3DC7-08A176B3053F}"/>
              </a:ext>
            </a:extLst>
          </p:cNvPr>
          <p:cNvSpPr>
            <a:spLocks noGrp="1"/>
          </p:cNvSpPr>
          <p:nvPr>
            <p:ph type="title"/>
          </p:nvPr>
        </p:nvSpPr>
        <p:spPr/>
        <p:txBody>
          <a:bodyPr/>
          <a:lstStyle/>
          <a:p>
            <a:r>
              <a:rPr lang="en-US" dirty="0"/>
              <a:t>(b) Ideal Low Pass Filter (LPF)</a:t>
            </a:r>
          </a:p>
        </p:txBody>
      </p:sp>
      <p:sp>
        <p:nvSpPr>
          <p:cNvPr id="3" name="Content Placeholder 2">
            <a:extLst>
              <a:ext uri="{FF2B5EF4-FFF2-40B4-BE49-F238E27FC236}">
                <a16:creationId xmlns:a16="http://schemas.microsoft.com/office/drawing/2014/main" id="{4F72C8F4-030B-BFD1-D884-96C8A859F751}"/>
              </a:ext>
            </a:extLst>
          </p:cNvPr>
          <p:cNvSpPr>
            <a:spLocks noGrp="1"/>
          </p:cNvSpPr>
          <p:nvPr>
            <p:ph idx="1"/>
          </p:nvPr>
        </p:nvSpPr>
        <p:spPr/>
        <p:txBody>
          <a:bodyPr>
            <a:normAutofit fontScale="55000" lnSpcReduction="20000"/>
          </a:bodyPr>
          <a:lstStyle/>
          <a:p>
            <a:r>
              <a:rPr lang="en-US" dirty="0"/>
              <a:t>rows, cols = </a:t>
            </a:r>
            <a:r>
              <a:rPr lang="en-US" dirty="0" err="1"/>
              <a:t>img.shape</a:t>
            </a:r>
            <a:endParaRPr lang="en-US" dirty="0"/>
          </a:p>
          <a:p>
            <a:r>
              <a:rPr lang="en-US" dirty="0"/>
              <a:t>crow, </a:t>
            </a:r>
            <a:r>
              <a:rPr lang="en-US" dirty="0" err="1"/>
              <a:t>ccol</a:t>
            </a:r>
            <a:r>
              <a:rPr lang="en-US" dirty="0"/>
              <a:t> = rows//2, cols//2</a:t>
            </a:r>
          </a:p>
          <a:p>
            <a:r>
              <a:rPr lang="en-US" dirty="0"/>
              <a:t>D0 = 50</a:t>
            </a:r>
          </a:p>
          <a:p>
            <a:endParaRPr lang="en-US" dirty="0"/>
          </a:p>
          <a:p>
            <a:r>
              <a:rPr lang="en-US" dirty="0"/>
              <a:t>mask = </a:t>
            </a:r>
            <a:r>
              <a:rPr lang="en-US" dirty="0" err="1"/>
              <a:t>np.zeros</a:t>
            </a:r>
            <a:r>
              <a:rPr lang="en-US" dirty="0"/>
              <a:t>((rows, cols), np.uint8)</a:t>
            </a:r>
          </a:p>
          <a:p>
            <a:r>
              <a:rPr lang="en-US" dirty="0"/>
              <a:t>mask[crow-D0:crow+D0, ccol-D0:ccol+D0] = 1</a:t>
            </a:r>
          </a:p>
          <a:p>
            <a:endParaRPr lang="en-US" dirty="0"/>
          </a:p>
          <a:p>
            <a:r>
              <a:rPr lang="en-US" dirty="0" err="1"/>
              <a:t>fshift_lpf</a:t>
            </a:r>
            <a:r>
              <a:rPr lang="en-US" dirty="0"/>
              <a:t> = </a:t>
            </a:r>
            <a:r>
              <a:rPr lang="en-US" dirty="0" err="1"/>
              <a:t>fshift</a:t>
            </a:r>
            <a:r>
              <a:rPr lang="en-US" dirty="0"/>
              <a:t> * mask</a:t>
            </a:r>
          </a:p>
          <a:p>
            <a:r>
              <a:rPr lang="en-US" dirty="0" err="1"/>
              <a:t>f_ishift</a:t>
            </a:r>
            <a:r>
              <a:rPr lang="en-US" dirty="0"/>
              <a:t> = </a:t>
            </a:r>
            <a:r>
              <a:rPr lang="en-US" dirty="0" err="1"/>
              <a:t>np.fft.ifftshift</a:t>
            </a:r>
            <a:r>
              <a:rPr lang="en-US" dirty="0"/>
              <a:t>(</a:t>
            </a:r>
            <a:r>
              <a:rPr lang="en-US" dirty="0" err="1"/>
              <a:t>fshift_lpf</a:t>
            </a:r>
            <a:r>
              <a:rPr lang="en-US" dirty="0"/>
              <a:t>)</a:t>
            </a:r>
          </a:p>
          <a:p>
            <a:r>
              <a:rPr lang="en-US" dirty="0" err="1"/>
              <a:t>img_back</a:t>
            </a:r>
            <a:r>
              <a:rPr lang="en-US" dirty="0"/>
              <a:t> = np.fft.ifft2(</a:t>
            </a:r>
            <a:r>
              <a:rPr lang="en-US" dirty="0" err="1"/>
              <a:t>f_ishift</a:t>
            </a:r>
            <a:r>
              <a:rPr lang="en-US" dirty="0"/>
              <a:t>)</a:t>
            </a:r>
          </a:p>
          <a:p>
            <a:r>
              <a:rPr lang="en-US" dirty="0" err="1"/>
              <a:t>img_back</a:t>
            </a:r>
            <a:r>
              <a:rPr lang="en-US" dirty="0"/>
              <a:t> = </a:t>
            </a:r>
            <a:r>
              <a:rPr lang="en-US" dirty="0" err="1"/>
              <a:t>np.abs</a:t>
            </a:r>
            <a:r>
              <a:rPr lang="en-US" dirty="0"/>
              <a:t>(</a:t>
            </a:r>
            <a:r>
              <a:rPr lang="en-US" dirty="0" err="1"/>
              <a:t>img_back</a:t>
            </a:r>
            <a:r>
              <a:rPr lang="en-US" dirty="0"/>
              <a:t>)</a:t>
            </a:r>
          </a:p>
          <a:p>
            <a:endParaRPr lang="en-US" dirty="0"/>
          </a:p>
          <a:p>
            <a:r>
              <a:rPr lang="en-US" dirty="0" err="1"/>
              <a:t>plt.imshow</a:t>
            </a:r>
            <a:r>
              <a:rPr lang="en-US" dirty="0"/>
              <a:t>(</a:t>
            </a:r>
            <a:r>
              <a:rPr lang="en-US" dirty="0" err="1"/>
              <a:t>img_back</a:t>
            </a:r>
            <a:r>
              <a:rPr lang="en-US" dirty="0"/>
              <a:t>, </a:t>
            </a:r>
            <a:r>
              <a:rPr lang="en-US" dirty="0" err="1"/>
              <a:t>cmap</a:t>
            </a:r>
            <a:r>
              <a:rPr lang="en-US" dirty="0"/>
              <a:t>='gray')</a:t>
            </a:r>
          </a:p>
          <a:p>
            <a:r>
              <a:rPr lang="en-US" dirty="0" err="1"/>
              <a:t>plt.title</a:t>
            </a:r>
            <a:r>
              <a:rPr lang="en-US" dirty="0"/>
              <a:t>("Ideal Low Pass Filter")</a:t>
            </a:r>
          </a:p>
          <a:p>
            <a:r>
              <a:rPr lang="en-US" dirty="0" err="1"/>
              <a:t>plt.show</a:t>
            </a:r>
            <a:r>
              <a:rPr lang="en-US" dirty="0"/>
              <a:t>()</a:t>
            </a:r>
          </a:p>
          <a:p>
            <a:endParaRPr lang="en-US" dirty="0"/>
          </a:p>
        </p:txBody>
      </p:sp>
    </p:spTree>
    <p:extLst>
      <p:ext uri="{BB962C8B-B14F-4D97-AF65-F5344CB8AC3E}">
        <p14:creationId xmlns:p14="http://schemas.microsoft.com/office/powerpoint/2010/main" val="1173908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9104B-4422-6357-C303-019634C8C923}"/>
              </a:ext>
            </a:extLst>
          </p:cNvPr>
          <p:cNvSpPr>
            <a:spLocks noGrp="1"/>
          </p:cNvSpPr>
          <p:nvPr>
            <p:ph type="title"/>
          </p:nvPr>
        </p:nvSpPr>
        <p:spPr/>
        <p:txBody>
          <a:bodyPr/>
          <a:lstStyle/>
          <a:p>
            <a:r>
              <a:rPr lang="en-US" dirty="0"/>
              <a:t>(c) High Pass Filter (HPF)</a:t>
            </a:r>
          </a:p>
        </p:txBody>
      </p:sp>
      <p:sp>
        <p:nvSpPr>
          <p:cNvPr id="3" name="Content Placeholder 2">
            <a:extLst>
              <a:ext uri="{FF2B5EF4-FFF2-40B4-BE49-F238E27FC236}">
                <a16:creationId xmlns:a16="http://schemas.microsoft.com/office/drawing/2014/main" id="{D2D2E2CC-E06E-241D-A902-7918A1DE0EE1}"/>
              </a:ext>
            </a:extLst>
          </p:cNvPr>
          <p:cNvSpPr>
            <a:spLocks noGrp="1"/>
          </p:cNvSpPr>
          <p:nvPr>
            <p:ph idx="1"/>
          </p:nvPr>
        </p:nvSpPr>
        <p:spPr/>
        <p:txBody>
          <a:bodyPr>
            <a:normAutofit fontScale="85000" lnSpcReduction="20000"/>
          </a:bodyPr>
          <a:lstStyle/>
          <a:p>
            <a:r>
              <a:rPr lang="en-US" dirty="0"/>
              <a:t>mask = </a:t>
            </a:r>
            <a:r>
              <a:rPr lang="en-US" dirty="0" err="1"/>
              <a:t>np.ones</a:t>
            </a:r>
            <a:r>
              <a:rPr lang="en-US" dirty="0"/>
              <a:t>((rows, cols), np.uint8)</a:t>
            </a:r>
          </a:p>
          <a:p>
            <a:r>
              <a:rPr lang="en-US" dirty="0"/>
              <a:t>mask[crow-30:crow+30, ccol-30:ccol+30] = 0</a:t>
            </a:r>
          </a:p>
          <a:p>
            <a:endParaRPr lang="en-US" dirty="0"/>
          </a:p>
          <a:p>
            <a:r>
              <a:rPr lang="en-US" dirty="0" err="1"/>
              <a:t>fshift_hpf</a:t>
            </a:r>
            <a:r>
              <a:rPr lang="en-US" dirty="0"/>
              <a:t> = </a:t>
            </a:r>
            <a:r>
              <a:rPr lang="en-US" dirty="0" err="1"/>
              <a:t>fshift</a:t>
            </a:r>
            <a:r>
              <a:rPr lang="en-US" dirty="0"/>
              <a:t> * mask</a:t>
            </a:r>
          </a:p>
          <a:p>
            <a:r>
              <a:rPr lang="en-US" dirty="0" err="1"/>
              <a:t>f_ishift</a:t>
            </a:r>
            <a:r>
              <a:rPr lang="en-US" dirty="0"/>
              <a:t> = </a:t>
            </a:r>
            <a:r>
              <a:rPr lang="en-US" dirty="0" err="1"/>
              <a:t>np.fft.ifftshift</a:t>
            </a:r>
            <a:r>
              <a:rPr lang="en-US" dirty="0"/>
              <a:t>(</a:t>
            </a:r>
            <a:r>
              <a:rPr lang="en-US" dirty="0" err="1"/>
              <a:t>fshift_hpf</a:t>
            </a:r>
            <a:r>
              <a:rPr lang="en-US" dirty="0"/>
              <a:t>)</a:t>
            </a:r>
          </a:p>
          <a:p>
            <a:r>
              <a:rPr lang="en-US" dirty="0" err="1"/>
              <a:t>img_back</a:t>
            </a:r>
            <a:r>
              <a:rPr lang="en-US" dirty="0"/>
              <a:t> = np.fft.ifft2(</a:t>
            </a:r>
            <a:r>
              <a:rPr lang="en-US" dirty="0" err="1"/>
              <a:t>f_ishift</a:t>
            </a:r>
            <a:r>
              <a:rPr lang="en-US" dirty="0"/>
              <a:t>)</a:t>
            </a:r>
          </a:p>
          <a:p>
            <a:r>
              <a:rPr lang="en-US" dirty="0" err="1"/>
              <a:t>img_back</a:t>
            </a:r>
            <a:r>
              <a:rPr lang="en-US" dirty="0"/>
              <a:t> = </a:t>
            </a:r>
            <a:r>
              <a:rPr lang="en-US" dirty="0" err="1"/>
              <a:t>np.abs</a:t>
            </a:r>
            <a:r>
              <a:rPr lang="en-US" dirty="0"/>
              <a:t>(</a:t>
            </a:r>
            <a:r>
              <a:rPr lang="en-US" dirty="0" err="1"/>
              <a:t>img_back</a:t>
            </a:r>
            <a:r>
              <a:rPr lang="en-US" dirty="0"/>
              <a:t>)</a:t>
            </a:r>
          </a:p>
          <a:p>
            <a:endParaRPr lang="en-US" dirty="0"/>
          </a:p>
          <a:p>
            <a:r>
              <a:rPr lang="en-US" dirty="0" err="1"/>
              <a:t>plt.imshow</a:t>
            </a:r>
            <a:r>
              <a:rPr lang="en-US" dirty="0"/>
              <a:t>(</a:t>
            </a:r>
            <a:r>
              <a:rPr lang="en-US" dirty="0" err="1"/>
              <a:t>img_back</a:t>
            </a:r>
            <a:r>
              <a:rPr lang="en-US" dirty="0"/>
              <a:t>, </a:t>
            </a:r>
            <a:r>
              <a:rPr lang="en-US" dirty="0" err="1"/>
              <a:t>cmap</a:t>
            </a:r>
            <a:r>
              <a:rPr lang="en-US" dirty="0"/>
              <a:t>='gray')</a:t>
            </a:r>
          </a:p>
          <a:p>
            <a:r>
              <a:rPr lang="en-US" dirty="0" err="1"/>
              <a:t>plt.title</a:t>
            </a:r>
            <a:r>
              <a:rPr lang="en-US" dirty="0"/>
              <a:t>("High Pass Filter")</a:t>
            </a:r>
          </a:p>
          <a:p>
            <a:r>
              <a:rPr lang="en-US" dirty="0" err="1"/>
              <a:t>plt.show</a:t>
            </a:r>
            <a:r>
              <a:rPr lang="en-US" dirty="0"/>
              <a:t>()</a:t>
            </a:r>
          </a:p>
          <a:p>
            <a:endParaRPr lang="en-US" dirty="0"/>
          </a:p>
        </p:txBody>
      </p:sp>
    </p:spTree>
    <p:extLst>
      <p:ext uri="{BB962C8B-B14F-4D97-AF65-F5344CB8AC3E}">
        <p14:creationId xmlns:p14="http://schemas.microsoft.com/office/powerpoint/2010/main" val="2319712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F5632-0A42-7071-7BFF-CBAC30C78895}"/>
              </a:ext>
            </a:extLst>
          </p:cNvPr>
          <p:cNvSpPr>
            <a:spLocks noGrp="1"/>
          </p:cNvSpPr>
          <p:nvPr>
            <p:ph type="title"/>
          </p:nvPr>
        </p:nvSpPr>
        <p:spPr/>
        <p:txBody>
          <a:bodyPr/>
          <a:lstStyle/>
          <a:p>
            <a:r>
              <a:rPr lang="en-US" dirty="0"/>
              <a:t>8. COMPARISON: SPATIAL VS FREQUENCY FILTERING</a:t>
            </a:r>
          </a:p>
        </p:txBody>
      </p:sp>
      <p:pic>
        <p:nvPicPr>
          <p:cNvPr id="5" name="Content Placeholder 4">
            <a:extLst>
              <a:ext uri="{FF2B5EF4-FFF2-40B4-BE49-F238E27FC236}">
                <a16:creationId xmlns:a16="http://schemas.microsoft.com/office/drawing/2014/main" id="{FA4734FD-D6F5-1137-5B32-8F4CFC0D4400}"/>
              </a:ext>
            </a:extLst>
          </p:cNvPr>
          <p:cNvPicPr>
            <a:picLocks noGrp="1" noChangeAspect="1"/>
          </p:cNvPicPr>
          <p:nvPr>
            <p:ph idx="1"/>
          </p:nvPr>
        </p:nvPicPr>
        <p:blipFill>
          <a:blip r:embed="rId2"/>
          <a:stretch>
            <a:fillRect/>
          </a:stretch>
        </p:blipFill>
        <p:spPr>
          <a:xfrm>
            <a:off x="1874737" y="2143594"/>
            <a:ext cx="8678757" cy="3148518"/>
          </a:xfrm>
          <a:prstGeom prst="rect">
            <a:avLst/>
          </a:prstGeom>
        </p:spPr>
      </p:pic>
    </p:spTree>
    <p:extLst>
      <p:ext uri="{BB962C8B-B14F-4D97-AF65-F5344CB8AC3E}">
        <p14:creationId xmlns:p14="http://schemas.microsoft.com/office/powerpoint/2010/main" val="1967296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6EC1F-5DF8-1B0C-C002-2167406DB744}"/>
              </a:ext>
            </a:extLst>
          </p:cNvPr>
          <p:cNvSpPr>
            <a:spLocks noGrp="1"/>
          </p:cNvSpPr>
          <p:nvPr>
            <p:ph type="title"/>
          </p:nvPr>
        </p:nvSpPr>
        <p:spPr>
          <a:xfrm>
            <a:off x="838200" y="365125"/>
            <a:ext cx="10209551" cy="954009"/>
          </a:xfrm>
        </p:spPr>
        <p:txBody>
          <a:bodyPr>
            <a:normAutofit fontScale="90000"/>
          </a:bodyPr>
          <a:lstStyle/>
          <a:p>
            <a:r>
              <a:rPr lang="en-US" dirty="0"/>
              <a:t>9. LAB TASKS (For Students)Useful for BSCS 5th Semester Assignments / Exams</a:t>
            </a:r>
          </a:p>
        </p:txBody>
      </p:sp>
      <p:pic>
        <p:nvPicPr>
          <p:cNvPr id="5" name="Content Placeholder 4">
            <a:extLst>
              <a:ext uri="{FF2B5EF4-FFF2-40B4-BE49-F238E27FC236}">
                <a16:creationId xmlns:a16="http://schemas.microsoft.com/office/drawing/2014/main" id="{B42FBAB3-8A5C-7549-4F46-1DDE70EBE9A5}"/>
              </a:ext>
            </a:extLst>
          </p:cNvPr>
          <p:cNvPicPr>
            <a:picLocks noGrp="1" noChangeAspect="1"/>
          </p:cNvPicPr>
          <p:nvPr>
            <p:ph idx="1"/>
          </p:nvPr>
        </p:nvPicPr>
        <p:blipFill>
          <a:blip r:embed="rId2"/>
          <a:stretch>
            <a:fillRect/>
          </a:stretch>
        </p:blipFill>
        <p:spPr>
          <a:xfrm>
            <a:off x="722536" y="2128603"/>
            <a:ext cx="8370054" cy="2919185"/>
          </a:xfrm>
          <a:prstGeom prst="rect">
            <a:avLst/>
          </a:prstGeom>
        </p:spPr>
      </p:pic>
    </p:spTree>
    <p:extLst>
      <p:ext uri="{BB962C8B-B14F-4D97-AF65-F5344CB8AC3E}">
        <p14:creationId xmlns:p14="http://schemas.microsoft.com/office/powerpoint/2010/main" val="4738448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3B080-B220-D1A9-D373-200EAFAB7975}"/>
              </a:ext>
            </a:extLst>
          </p:cNvPr>
          <p:cNvSpPr>
            <a:spLocks noGrp="1"/>
          </p:cNvSpPr>
          <p:nvPr>
            <p:ph type="title"/>
          </p:nvPr>
        </p:nvSpPr>
        <p:spPr/>
        <p:txBody>
          <a:bodyPr/>
          <a:lstStyle/>
          <a:p>
            <a:r>
              <a:rPr lang="en-US" dirty="0"/>
              <a:t>10. CONCLUSION</a:t>
            </a:r>
          </a:p>
        </p:txBody>
      </p:sp>
      <p:sp>
        <p:nvSpPr>
          <p:cNvPr id="3" name="Content Placeholder 2">
            <a:extLst>
              <a:ext uri="{FF2B5EF4-FFF2-40B4-BE49-F238E27FC236}">
                <a16:creationId xmlns:a16="http://schemas.microsoft.com/office/drawing/2014/main" id="{1A35192F-76BE-4662-109B-F9E988D7CE42}"/>
              </a:ext>
            </a:extLst>
          </p:cNvPr>
          <p:cNvSpPr>
            <a:spLocks noGrp="1"/>
          </p:cNvSpPr>
          <p:nvPr>
            <p:ph idx="1"/>
          </p:nvPr>
        </p:nvSpPr>
        <p:spPr/>
        <p:txBody>
          <a:bodyPr/>
          <a:lstStyle/>
          <a:p>
            <a:r>
              <a:rPr lang="en-US" dirty="0"/>
              <a:t>Spatial filters work directly on pixels and are easy to implement. Frequency domain filtering is powerful for extracting image features. Both domains complement each other and are essential in Digital Image Processing.</a:t>
            </a:r>
          </a:p>
        </p:txBody>
      </p:sp>
    </p:spTree>
    <p:extLst>
      <p:ext uri="{BB962C8B-B14F-4D97-AF65-F5344CB8AC3E}">
        <p14:creationId xmlns:p14="http://schemas.microsoft.com/office/powerpoint/2010/main" val="9574111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889</Words>
  <Application>Microsoft Office PowerPoint</Application>
  <PresentationFormat>Widescreen</PresentationFormat>
  <Paragraphs>122</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Image Filtering in Spatial &amp; Frequency Domain Course: Digital Image Processing </vt:lpstr>
      <vt:lpstr>1. INTRODUCTION TO IMAGE FILTERING</vt:lpstr>
      <vt:lpstr>2. SPATIAL DOMAIN FILTERING</vt:lpstr>
      <vt:lpstr>PowerPoint Presentation</vt:lpstr>
      <vt:lpstr>3. TYPES OF SPATIAL FILTERS </vt:lpstr>
      <vt:lpstr>PowerPoint Presentation</vt:lpstr>
      <vt:lpstr>PowerPoint Presentation</vt:lpstr>
      <vt:lpstr>PowerPoint Presentation</vt:lpstr>
      <vt:lpstr>PowerPoint Presentation</vt:lpstr>
      <vt:lpstr>PowerPoint Presentation</vt:lpstr>
      <vt:lpstr>PowerPoint Presentation</vt:lpstr>
      <vt:lpstr>6. IDEAL, GAUSSIAN &amp; BUTTERWORTH FILTERS</vt:lpstr>
      <vt:lpstr>7. PRACTICALS USING PYTHON (OpenCV, NumPy, Matplotlib)</vt:lpstr>
      <vt:lpstr>(b) Averaging Filter</vt:lpstr>
      <vt:lpstr>c) Gaussian Filter</vt:lpstr>
      <vt:lpstr>(d) Median Filter</vt:lpstr>
      <vt:lpstr>(e) Laplacian Sharpening</vt:lpstr>
      <vt:lpstr>✅ 7.2 Frequency Domain Filtering – Python Code</vt:lpstr>
      <vt:lpstr>(b) Ideal Low Pass Filter (LPF)</vt:lpstr>
      <vt:lpstr>(c) High Pass Filter (HPF)</vt:lpstr>
      <vt:lpstr>8. COMPARISON: SPATIAL VS FREQUENCY FILTERING</vt:lpstr>
      <vt:lpstr>9. LAB TASKS (For Students)Useful for BSCS 5th Semester Assignments / Exams</vt:lpstr>
      <vt:lpstr>10.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24</cp:revision>
  <dcterms:created xsi:type="dcterms:W3CDTF">2025-11-21T04:59:50Z</dcterms:created>
  <dcterms:modified xsi:type="dcterms:W3CDTF">2025-11-21T06:24:00Z</dcterms:modified>
</cp:coreProperties>
</file>