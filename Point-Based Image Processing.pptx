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14C70-9383-3788-8750-F6B845AE67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ECB157-4BB8-3270-812B-C07DF93BB0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D0020-EE0C-5324-B11B-CA60BA140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39FBA-AD46-3A4F-6BED-3E7CF3887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2D9FD3-643F-21D3-D890-EEF9DE9F6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3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C831D-526E-BE75-A9E9-2EE8F67D6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E36E5E-E4AC-EAB8-E24F-B2E0E7CCE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C759C8-855F-076C-ACBB-4800CD032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F4F18C-99D7-E3B7-2887-CCA2B9EB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694CE-E148-0B2B-26EA-E0020205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84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6E261-5265-2B7B-0EED-2C9C71BC8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20B53-8E20-E88A-33E4-2C9409104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95C5F1-5819-C5A9-6C51-88FCF12FF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D9C74-6D7C-1157-8602-E1FC19E34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3E2D1-11B3-FBEB-9D46-B5ED75D76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6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43379-3A78-AB47-B05C-6F1369EC7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FA491-3A65-D7C9-8A9E-7DF1C30BFC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CFEAA0-75D6-30B7-A95C-0BBBE09EB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7AE131-41EE-644C-A4CB-66E857C7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0147D1-B6A2-AC15-BF33-DC2E08E0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EE47A5-6515-A1EB-D606-D80AD58F8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0928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CBEE4-E311-0B4F-23A4-841639583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293348-ADFF-6722-4280-B216AC3AA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5135B2-D535-3276-6948-0880CE4A12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EFB0A4-B434-B5C8-E26E-D53B949BC2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1760D6-E38F-1359-5252-B419BCDB6F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ABDCE-3697-61C4-AEA4-46B230DDF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961944-A594-8FBC-0B15-563BDB8E8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CFAF43-4E30-9DB9-9E68-9C18F8BC7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953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E805F-9CA4-B667-CE45-9E005CBF4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4135EE-9800-1B85-C670-F81A98E20E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39258-C9CB-B758-DBFE-A8EA2152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D68DF7-6D02-B9B1-E090-F129EB104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25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4BCD25-7989-83A0-B29F-3B8195533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7FCBC5-14F3-97D1-1D0E-9B38FE09E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0B96F-EF36-5B2E-A32B-5CDD084F2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001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987E3-37D2-41CB-B7C2-A00C8DD5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7FE0C9-C89B-F0A7-2B63-B8080EF46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51680D-5059-BA41-A33E-46D75C2478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65992-CA01-9709-44C0-D3829046D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0AE5C-00DD-6F66-B5AC-BBC706127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4FE7FA-9389-5399-D0C4-4954E43B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379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609E4-BC63-BD46-0F93-A9149D89D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A3EDE5-1E32-4C9B-208E-F457836995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01E2C7-D4B5-24C5-5B0C-DE98A37744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C6DE0-78D9-01C5-0841-9057E5141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068F85-2342-3AD0-44FE-1CAC9ED5E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295745-89EF-A277-BDE2-2FA86998E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C606C-E3D6-03D1-08E0-F47C2E820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EDF31-EB8B-45A0-20FD-EB79C15F1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144ACA-3F03-842E-F01F-B16B2A2C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A0F8E-AD2E-1E3C-2B40-11ADA9359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7192-769F-0386-1C24-41FC1715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90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E737A5-C81D-D4FD-EFA0-EC3DE3AAE1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569DD1-EF84-013F-BD8A-B8F0702F1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220C6-C6DB-D0CF-F52A-6EF5A416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4F738-2270-7EC0-6133-4DD44BA90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10DC1-91E3-CCA4-DE6E-936D83D44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8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2BA597-D074-1204-A63B-8EA08A4DC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231F6D-4CDB-1799-087D-C367315CB4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51D458-8218-0EE3-E49A-385B0FDB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09C685-EBD1-4B42-B3A5-F882ADB96CB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6D7998-8EA8-79E1-124B-42884E3208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C2029-9FE3-AB49-294D-37D34AD418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A8CE1-2530-4250-89C1-9EB60F9357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6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DAD9E-7BEB-6332-3AC0-6E2A1B308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4158" y="2531438"/>
            <a:ext cx="9144000" cy="2387600"/>
          </a:xfrm>
        </p:spPr>
        <p:txBody>
          <a:bodyPr>
            <a:noAutofit/>
          </a:bodyPr>
          <a:lstStyle/>
          <a:p>
            <a:r>
              <a:rPr lang="en-US" sz="4000" b="1" dirty="0"/>
              <a:t>Lecture Notes – BSCS 5th Semester</a:t>
            </a:r>
            <a:br>
              <a:rPr lang="en-US" sz="4000" b="1" dirty="0"/>
            </a:br>
            <a:r>
              <a:rPr lang="en-US" sz="4000" b="1" dirty="0"/>
              <a:t>Course: Digital Image Processing</a:t>
            </a:r>
            <a:br>
              <a:rPr lang="en-US" sz="4000" b="1" dirty="0"/>
            </a:br>
            <a:r>
              <a:rPr lang="en-US" sz="4000" b="1" dirty="0"/>
              <a:t>Instructor: Adnan Majeed</a:t>
            </a:r>
            <a:br>
              <a:rPr lang="en-US" sz="4000" b="1" dirty="0"/>
            </a:br>
            <a:r>
              <a:rPr lang="en-US" sz="4000" b="1" dirty="0"/>
              <a:t>Topic: Point-Based Image Processing</a:t>
            </a:r>
            <a:br>
              <a:rPr lang="en-US" sz="4000" b="1" dirty="0"/>
            </a:b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1028367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9F3DA-43A0-5919-3FD1-98B60EDFB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4ADB8-2C16-013E-56F2-4247A4C67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1. Introduction</a:t>
            </a:r>
          </a:p>
          <a:p>
            <a:r>
              <a:rPr lang="en-US" b="1" dirty="0"/>
              <a:t>Point-Based Image Processing</a:t>
            </a:r>
            <a:r>
              <a:rPr lang="en-US" dirty="0"/>
              <a:t> is a fundamental technique in digital image processing where </a:t>
            </a:r>
            <a:r>
              <a:rPr lang="en-US" b="1" dirty="0"/>
              <a:t>each pixel in the input image is processed independently</a:t>
            </a:r>
            <a:r>
              <a:rPr lang="en-US" dirty="0"/>
              <a:t> to produce an output image.</a:t>
            </a:r>
          </a:p>
          <a:p>
            <a:r>
              <a:rPr lang="en-US" dirty="0"/>
              <a:t>The transformation of the pixel depends </a:t>
            </a:r>
            <a:r>
              <a:rPr lang="en-US" b="1" dirty="0"/>
              <a:t>only on its own value</a:t>
            </a:r>
            <a:r>
              <a:rPr lang="en-US" dirty="0"/>
              <a:t>, not on neighboring pixels.</a:t>
            </a:r>
          </a:p>
          <a:p>
            <a:r>
              <a:rPr lang="en-US" dirty="0"/>
              <a:t>Also known as </a:t>
            </a:r>
            <a:r>
              <a:rPr lang="en-US" b="1" dirty="0"/>
              <a:t>Point Operations</a:t>
            </a:r>
            <a:r>
              <a:rPr lang="en-US" dirty="0"/>
              <a:t> or </a:t>
            </a:r>
            <a:r>
              <a:rPr lang="en-US" b="1" dirty="0"/>
              <a:t>Intensity Transformations</a:t>
            </a:r>
            <a:r>
              <a:rPr lang="en-US" dirty="0"/>
              <a:t>.</a:t>
            </a:r>
          </a:p>
          <a:p>
            <a:r>
              <a:rPr lang="en-US" dirty="0"/>
              <a:t>Widely used for </a:t>
            </a:r>
            <a:r>
              <a:rPr lang="en-US" b="1" dirty="0"/>
              <a:t>contrast enhancement, brightness adjustment, thresholding</a:t>
            </a:r>
            <a:r>
              <a:rPr lang="en-US" dirty="0"/>
              <a:t>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908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2046-FCBE-4BF0-C011-225D6D4AE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9A9B45-3E90-4AB5-80A8-17FB65FADB5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2. Theory</a:t>
                </a:r>
              </a:p>
              <a:p>
                <a:r>
                  <a:rPr lang="en-US" b="1" dirty="0"/>
                  <a:t>2.1 Concept</a:t>
                </a:r>
              </a:p>
              <a:p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is the input image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lang="en-US" dirty="0"/>
                  <a:t>is the output image, then point-based processing can be expressed as: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is a </a:t>
                </a:r>
                <a:r>
                  <a:rPr lang="en-US" b="1" dirty="0"/>
                  <a:t>transformation function</a:t>
                </a:r>
                <a:r>
                  <a:rPr lang="en-US" dirty="0"/>
                  <a:t> applied to each pixel independently.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F9A9B45-3E90-4AB5-80A8-17FB65FADB5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061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F122B-4C93-8757-50A5-5CF22ECEA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8A9DC-043D-77A4-0B16-F66DED44C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2.2 Applications</a:t>
            </a:r>
          </a:p>
          <a:p>
            <a:r>
              <a:rPr lang="en-US" b="1" dirty="0"/>
              <a:t>Brightness and Contrast Adjustment</a:t>
            </a:r>
            <a:endParaRPr lang="en-US" dirty="0"/>
          </a:p>
          <a:p>
            <a:r>
              <a:rPr lang="en-US" b="1" dirty="0"/>
              <a:t>Image Negative</a:t>
            </a:r>
            <a:endParaRPr lang="en-US" dirty="0"/>
          </a:p>
          <a:p>
            <a:r>
              <a:rPr lang="en-US" b="1" dirty="0"/>
              <a:t>Logarithmic Transformations</a:t>
            </a:r>
            <a:endParaRPr lang="en-US" dirty="0"/>
          </a:p>
          <a:p>
            <a:r>
              <a:rPr lang="en-US" b="1" dirty="0"/>
              <a:t>Power-Law (Gamma) Transformations</a:t>
            </a:r>
            <a:endParaRPr lang="en-US" dirty="0"/>
          </a:p>
          <a:p>
            <a:r>
              <a:rPr lang="en-US" b="1" dirty="0"/>
              <a:t>Thresholding</a:t>
            </a:r>
            <a:r>
              <a:rPr lang="en-US" dirty="0"/>
              <a:t> (Binarization)</a:t>
            </a:r>
          </a:p>
          <a:p>
            <a:r>
              <a:rPr lang="en-US" b="1" dirty="0"/>
              <a:t>Bit-Plane Slicing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217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B4653-C343-E671-00DC-0F762697E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ABB976-5B29-66E0-AC39-EFABC5FFE6E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 Common Point-Based Transformations</a:t>
                </a:r>
              </a:p>
              <a:p>
                <a:r>
                  <a:rPr lang="en-US" b="1" dirty="0"/>
                  <a:t>3.1 Image Negative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Enhance bright regions or prepare for certain image analysis.</a:t>
                </a:r>
              </a:p>
              <a:p>
                <a:r>
                  <a:rPr lang="en-US" b="1" dirty="0"/>
                  <a:t>Formula: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5ABB976-5B29-66E0-AC39-EFABC5FFE6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47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A99DD-4E40-05BC-79C5-DCE6C42E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CF377-EAB7-5AAF-1127-A8C756B5EA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= input pixel value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= output pixel value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= number of gray levels (e.g., 256 for 8-bit images)</a:t>
                </a:r>
              </a:p>
              <a:p>
                <a:r>
                  <a:rPr lang="en-US" b="1" dirty="0"/>
                  <a:t>Effect:</a:t>
                </a:r>
                <a:r>
                  <a:rPr lang="en-US" dirty="0"/>
                  <a:t> Dark areas become bright and vice versa.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46CF377-EAB7-5AAF-1127-A8C756B5EA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0252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973EE-3F23-47A0-C73F-8AC369D7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1150D-1115-9A28-DF91-90B32C7D40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3.2 Brightness Adjustment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Increase or decrease the overall intensity of an image.</a:t>
                </a:r>
              </a:p>
              <a:p>
                <a:r>
                  <a:rPr lang="en-US" b="1" dirty="0"/>
                  <a:t>Formula: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= input pixel value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= constant (positive to brighten, negative to darken)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D11150D-1115-9A28-DF91-90B32C7D40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948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650AE-4ADC-9257-50A5-459874F75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C6DD69-136D-4402-678C-7CB7CC5B823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3.3 Contrast Stretching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Enhance the contrast of an image.</a:t>
                </a:r>
              </a:p>
              <a:p>
                <a:r>
                  <a:rPr lang="en-US" b="1" dirty="0"/>
                  <a:t>Linear Transformation Formula: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= scaling factor (controls contrast)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= offset (controls brightness)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C6DD69-136D-4402-678C-7CB7CC5B82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97492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F3F0B-94D5-9A50-E8F9-7FFEDA966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590005-5692-4D33-A193-EE74A04B63B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3.4 Logarithmic Transformation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Expand dark regions while compressing bright regions.</a:t>
                </a:r>
              </a:p>
              <a:p>
                <a:r>
                  <a:rPr lang="en-US" b="1" dirty="0"/>
                  <a:t>Formula:</a:t>
                </a:r>
                <a:endParaRPr lang="en-US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= constant scaling factor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590005-5692-4D33-A193-EE74A04B63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31541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12F78-5DE6-3DFA-353E-985276EC1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5C6FAC-0A48-F73C-18DF-1391F43FFB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3.5 Power-Law (Gamma) Transformation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Adjust image intensity for display devices.</a:t>
                </a:r>
              </a:p>
              <a:p>
                <a:r>
                  <a:rPr lang="en-US" b="1" dirty="0"/>
                  <a:t>Formula: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ar-AE" i="1">
                            <a:latin typeface="Cambria Math" panose="02040503050406030204" pitchFamily="18" charset="0"/>
                          </a:rPr>
                          <m:t>𝛾</m:t>
                        </m:r>
                      </m:sup>
                    </m:sSup>
                  </m:oMath>
                </a14:m>
                <a:endParaRPr lang="ar-AE" dirty="0"/>
              </a:p>
              <a:p>
                <a:r>
                  <a:rPr lang="en-US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brightens the image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darkens the image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is normalized to [0,1]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45C6FAC-0A48-F73C-18DF-1391F43FFB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629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AA3CB-BE1D-C520-AC08-39FD567C2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68B4B-5FC4-1892-2313-23323A82A72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1" dirty="0"/>
                  <a:t>3.6 Thresholding (Binarization)</a:t>
                </a:r>
              </a:p>
              <a:p>
                <a:r>
                  <a:rPr lang="en-US" b="1" dirty="0"/>
                  <a:t>Purpose:</a:t>
                </a:r>
                <a:r>
                  <a:rPr lang="en-US" dirty="0"/>
                  <a:t> Convert grayscale images to binary images.</a:t>
                </a:r>
              </a:p>
              <a:p>
                <a:r>
                  <a:rPr lang="en-US" b="1" dirty="0"/>
                  <a:t>Formula: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plcHide m:val="on"/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mr>
                          <m:mr>
                            <m:e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= threshold value.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FE68B4B-5FC4-1892-2313-23323A82A72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865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7993-22C4-E13E-86F0-A279C328B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2D0BD-FA0F-A5CE-55E0-196738C3E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3.7 Bit-Plane Slicing</a:t>
            </a:r>
          </a:p>
          <a:p>
            <a:r>
              <a:rPr lang="en-US" b="1" dirty="0"/>
              <a:t>Purpose:</a:t>
            </a:r>
            <a:r>
              <a:rPr lang="en-US" dirty="0"/>
              <a:t> Analyze or enhance particular bits of an image.</a:t>
            </a:r>
          </a:p>
          <a:p>
            <a:r>
              <a:rPr lang="en-US" dirty="0"/>
              <a:t>Each </a:t>
            </a:r>
            <a:r>
              <a:rPr lang="en-US" b="1" dirty="0"/>
              <a:t>bit-plane</a:t>
            </a:r>
            <a:r>
              <a:rPr lang="en-US" dirty="0"/>
              <a:t> of an 8-bit image corresponds to a different </a:t>
            </a:r>
            <a:r>
              <a:rPr lang="en-US" b="1" dirty="0"/>
              <a:t>significance level</a:t>
            </a:r>
            <a:r>
              <a:rPr lang="en-US" dirty="0"/>
              <a:t> of intensity.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9276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CD18-6AD6-EA01-647A-B5EF997DC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A50036-DCF9-32BE-17F1-4AD3211E7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4. Steps of Point-Based Image Processing</a:t>
            </a:r>
          </a:p>
          <a:p>
            <a:r>
              <a:rPr lang="en-US" b="1" dirty="0"/>
              <a:t>Step 1: Read the Image</a:t>
            </a:r>
          </a:p>
          <a:p>
            <a:r>
              <a:rPr lang="en-US" dirty="0"/>
              <a:t>Load the grayscale or color image into the program.</a:t>
            </a:r>
          </a:p>
          <a:p>
            <a:r>
              <a:rPr lang="en-US" dirty="0"/>
              <a:t>Represent it as a 2D array of pixel values.</a:t>
            </a:r>
          </a:p>
          <a:p>
            <a:r>
              <a:rPr lang="en-US" b="1" dirty="0"/>
              <a:t>Step 2: Choose a Transformation Function</a:t>
            </a:r>
          </a:p>
          <a:p>
            <a:r>
              <a:rPr lang="en-US" dirty="0"/>
              <a:t>Decide which point operation to apply:</a:t>
            </a:r>
          </a:p>
          <a:p>
            <a:pPr lvl="1"/>
            <a:r>
              <a:rPr lang="en-US" dirty="0"/>
              <a:t>Negative</a:t>
            </a:r>
          </a:p>
          <a:p>
            <a:pPr lvl="1"/>
            <a:r>
              <a:rPr lang="en-US" dirty="0"/>
              <a:t>Brightness/Contrast</a:t>
            </a:r>
          </a:p>
          <a:p>
            <a:pPr lvl="1"/>
            <a:r>
              <a:rPr lang="en-US" dirty="0"/>
              <a:t>Logarithmic</a:t>
            </a:r>
          </a:p>
          <a:p>
            <a:pPr lvl="1"/>
            <a:r>
              <a:rPr lang="en-US" dirty="0"/>
              <a:t>Gamma</a:t>
            </a:r>
          </a:p>
          <a:p>
            <a:pPr lvl="1"/>
            <a:r>
              <a:rPr lang="en-US" dirty="0"/>
              <a:t>Thresholding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55506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7B398-71FE-0907-9410-1C8939B07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AC2C74-A4E6-1A2F-42DC-4572EBD0A64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b="1" dirty="0"/>
                  <a:t>Step 3: Apply Transformation</a:t>
                </a:r>
              </a:p>
              <a:p>
                <a:r>
                  <a:rPr lang="en-US" dirty="0"/>
                  <a:t>Apply the function to </a:t>
                </a:r>
                <a:r>
                  <a:rPr lang="en-US" b="1" dirty="0"/>
                  <a:t>each pixel independently</a:t>
                </a:r>
                <a:r>
                  <a:rPr lang="en-US" dirty="0"/>
                  <a:t>: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begChr m:val="["/>
                        <m:endChr m:val="]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sepChr m:val=",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endParaRPr lang="ar-AE" dirty="0"/>
              </a:p>
              <a:p>
                <a:r>
                  <a:rPr lang="en-US" dirty="0"/>
                  <a:t>Iterate through all pixels using </a:t>
                </a:r>
                <a:r>
                  <a:rPr lang="en-US" b="1" dirty="0"/>
                  <a:t>nested loops</a:t>
                </a:r>
                <a:r>
                  <a:rPr lang="en-US" dirty="0"/>
                  <a:t>.</a:t>
                </a:r>
              </a:p>
              <a:p>
                <a:r>
                  <a:rPr lang="en-US" b="1" dirty="0"/>
                  <a:t>Step 4: Clip or Normalize Values</a:t>
                </a:r>
              </a:p>
              <a:p>
                <a:r>
                  <a:rPr lang="en-US" dirty="0"/>
                  <a:t>Ensure the output pixel values remain in the valid range [0, L-1].</a:t>
                </a:r>
              </a:p>
              <a:p>
                <a:r>
                  <a:rPr lang="en-US" b="1" dirty="0"/>
                  <a:t>Step 5: Display or Save the Output Image</a:t>
                </a:r>
              </a:p>
              <a:p>
                <a:r>
                  <a:rPr lang="en-US" dirty="0"/>
                  <a:t>Display the transformed image for visual analysis.</a:t>
                </a:r>
              </a:p>
              <a:p>
                <a:r>
                  <a:rPr lang="en-US" dirty="0"/>
                  <a:t>Save it if needed.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AC2C74-A4E6-1A2F-42DC-4572EBD0A64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1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614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232E-6B21-8EB3-2097-94D7BF2FA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Example in Python (Conceptual)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D49007-5659-8CC5-5589-779CD3AE5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import cv2</a:t>
            </a:r>
          </a:p>
          <a:p>
            <a:r>
              <a:rPr lang="en-US" dirty="0"/>
              <a:t>import </a:t>
            </a:r>
            <a:r>
              <a:rPr lang="en-US" dirty="0" err="1"/>
              <a:t>numpy</a:t>
            </a:r>
            <a:r>
              <a:rPr lang="en-US" dirty="0"/>
              <a:t> as np</a:t>
            </a:r>
            <a:br>
              <a:rPr lang="en-US" dirty="0"/>
            </a:br>
            <a:endParaRPr lang="en-US" dirty="0"/>
          </a:p>
          <a:p>
            <a:r>
              <a:rPr lang="en-US" dirty="0"/>
              <a:t># Step 1: Load Image</a:t>
            </a:r>
          </a:p>
          <a:p>
            <a:r>
              <a:rPr lang="en-US" dirty="0" err="1"/>
              <a:t>img</a:t>
            </a:r>
            <a:r>
              <a:rPr lang="en-US" dirty="0"/>
              <a:t> = cv2.imread(</a:t>
            </a:r>
            <a:r>
              <a:rPr lang="en-US" dirty="0" err="1"/>
              <a:t>r"E</a:t>
            </a:r>
            <a:r>
              <a:rPr lang="en-US" dirty="0"/>
              <a:t>:\env\messaging_app\opencv\flower.jpg", 0)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r>
              <a:rPr lang="en-US" dirty="0"/>
              <a:t>if </a:t>
            </a:r>
            <a:r>
              <a:rPr lang="en-US" dirty="0" err="1"/>
              <a:t>img</a:t>
            </a:r>
            <a:r>
              <a:rPr lang="en-US" dirty="0"/>
              <a:t> is None:</a:t>
            </a:r>
          </a:p>
          <a:p>
            <a:r>
              <a:rPr lang="en-US" dirty="0"/>
              <a:t>    print("Error: Image not found. Check the file path.")</a:t>
            </a:r>
          </a:p>
          <a:p>
            <a:r>
              <a:rPr lang="en-US" dirty="0"/>
              <a:t>    exit()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# Step 2: Apply Negative Transformation</a:t>
            </a:r>
          </a:p>
          <a:p>
            <a:r>
              <a:rPr lang="en-US" dirty="0" err="1"/>
              <a:t>negative_img</a:t>
            </a:r>
            <a:r>
              <a:rPr lang="en-US" dirty="0"/>
              <a:t> = 255 - </a:t>
            </a:r>
            <a:r>
              <a:rPr lang="en-US" dirty="0" err="1"/>
              <a:t>img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# Step 3: Brightness Adjustment</a:t>
            </a:r>
          </a:p>
          <a:p>
            <a:r>
              <a:rPr lang="en-US" dirty="0" err="1"/>
              <a:t>bright_img</a:t>
            </a:r>
            <a:r>
              <a:rPr lang="en-US" dirty="0"/>
              <a:t> = cv2.add(</a:t>
            </a:r>
            <a:r>
              <a:rPr lang="en-US" dirty="0" err="1"/>
              <a:t>img</a:t>
            </a:r>
            <a:r>
              <a:rPr lang="en-US" dirty="0"/>
              <a:t>, 50)  # Increase intensity by 50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4933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25F206-1F47-4EC2-CA00-9EE4487B8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C7590-6CC3-ED3F-10C4-911D0AD91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endParaRPr lang="en-US" dirty="0"/>
          </a:p>
          <a:p>
            <a:r>
              <a:rPr lang="en-US" dirty="0"/>
              <a:t># Step 4: Gamma Correction</a:t>
            </a:r>
          </a:p>
          <a:p>
            <a:r>
              <a:rPr lang="en-US" dirty="0"/>
              <a:t>gamma = 1.5</a:t>
            </a:r>
          </a:p>
          <a:p>
            <a:r>
              <a:rPr lang="en-US" dirty="0" err="1"/>
              <a:t>gamma_img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(255*(</a:t>
            </a:r>
            <a:r>
              <a:rPr lang="en-US" dirty="0" err="1"/>
              <a:t>img</a:t>
            </a:r>
            <a:r>
              <a:rPr lang="en-US" dirty="0"/>
              <a:t>/255)**gamma, </a:t>
            </a:r>
            <a:r>
              <a:rPr lang="en-US" dirty="0" err="1"/>
              <a:t>dtype</a:t>
            </a:r>
            <a:r>
              <a:rPr lang="en-US" dirty="0"/>
              <a:t>='uint8')</a:t>
            </a:r>
          </a:p>
          <a:p>
            <a:br>
              <a:rPr lang="en-US" dirty="0"/>
            </a:br>
            <a:endParaRPr lang="en-US" dirty="0"/>
          </a:p>
          <a:p>
            <a:r>
              <a:rPr lang="en-US" dirty="0"/>
              <a:t># Step 5: Display Images</a:t>
            </a:r>
          </a:p>
          <a:p>
            <a:r>
              <a:rPr lang="en-US" dirty="0"/>
              <a:t>cv2.imshow('Original', </a:t>
            </a:r>
            <a:r>
              <a:rPr lang="en-US" dirty="0" err="1"/>
              <a:t>img</a:t>
            </a:r>
            <a:r>
              <a:rPr lang="en-US" dirty="0"/>
              <a:t>)</a:t>
            </a:r>
          </a:p>
          <a:p>
            <a:r>
              <a:rPr lang="en-US" dirty="0"/>
              <a:t>cv2.imshow('Negative', </a:t>
            </a:r>
            <a:r>
              <a:rPr lang="en-US" dirty="0" err="1"/>
              <a:t>negative_img</a:t>
            </a:r>
            <a:r>
              <a:rPr lang="en-US" dirty="0"/>
              <a:t>)</a:t>
            </a:r>
          </a:p>
          <a:p>
            <a:r>
              <a:rPr lang="en-US" dirty="0"/>
              <a:t>cv2.imshow('Bright', </a:t>
            </a:r>
            <a:r>
              <a:rPr lang="en-US" dirty="0" err="1"/>
              <a:t>bright_img</a:t>
            </a:r>
            <a:r>
              <a:rPr lang="en-US" dirty="0"/>
              <a:t>)</a:t>
            </a:r>
          </a:p>
          <a:p>
            <a:r>
              <a:rPr lang="en-US" dirty="0"/>
              <a:t>cv2.imshow('Gamma Corrected', </a:t>
            </a:r>
            <a:r>
              <a:rPr lang="en-US" dirty="0" err="1"/>
              <a:t>gamma_img</a:t>
            </a:r>
            <a:r>
              <a:rPr lang="en-US" dirty="0"/>
              <a:t>)</a:t>
            </a:r>
          </a:p>
          <a:p>
            <a:r>
              <a:rPr lang="en-US" dirty="0"/>
              <a:t>cv2.waitKey(0)</a:t>
            </a:r>
          </a:p>
          <a:p>
            <a:r>
              <a:rPr lang="en-US" dirty="0"/>
              <a:t>cv2.destroyAllWindows()</a:t>
            </a:r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51257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53DB4-2C40-1F9D-8504-AFFF3928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Summary Table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41F7BD3-A1BE-4F08-E8B8-745819A51EC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0144311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7254039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1620680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Formula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18979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 = L-1-r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Invert intensities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06765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Brightness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 = r+c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Make image brighter/darker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15756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Contrast Stretch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 = </a:t>
                      </a:r>
                      <a:r>
                        <a:rPr lang="el-GR"/>
                        <a:t>α</a:t>
                      </a:r>
                      <a:r>
                        <a:rPr lang="en-US"/>
                        <a:t>r+</a:t>
                      </a:r>
                      <a:r>
                        <a:rPr lang="el-GR"/>
                        <a:t>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Enhance contrast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6308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Log Transform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/>
                        <a:t>s = c·log(1+r)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Expand dark regions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3564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Gamma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 = c·r^</a:t>
                      </a:r>
                      <a:r>
                        <a:rPr lang="el-GR"/>
                        <a:t>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Adjust intensity for display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3773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Threshold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 = 1 if r&gt;T else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Binarize image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31440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Bit-Plane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Extract nth bit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Highlight intensity details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2050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610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F974B-1B05-2093-292D-0018A2A58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AB51-7C69-F9C5-D243-5EABCB5AB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7. Applications of Point-Based Processing</a:t>
            </a:r>
          </a:p>
          <a:p>
            <a:r>
              <a:rPr lang="en-US" dirty="0"/>
              <a:t>Medical imaging enhancement</a:t>
            </a:r>
          </a:p>
          <a:p>
            <a:r>
              <a:rPr lang="en-US" dirty="0"/>
              <a:t>Satellite and aerial image enhancement</a:t>
            </a:r>
          </a:p>
          <a:p>
            <a:r>
              <a:rPr lang="en-US" dirty="0"/>
              <a:t>Document image preprocessing</a:t>
            </a:r>
          </a:p>
          <a:p>
            <a:r>
              <a:rPr lang="en-US" dirty="0"/>
              <a:t>Preprocessing for further image analysis (edge detection, segmentation)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066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36309-8E03-F168-E40C-E7A387F8A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16D5B6-AFB1-AF99-A7B6-0E00E137F2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8. Lab/Assignment Task</a:t>
            </a:r>
          </a:p>
          <a:p>
            <a:r>
              <a:rPr lang="en-US" b="1" dirty="0"/>
              <a:t>Task 1:</a:t>
            </a:r>
            <a:r>
              <a:rPr lang="en-US" dirty="0"/>
              <a:t> Apply negative, brightness adjustment, and gamma correction to a grayscale image and display all three results.</a:t>
            </a:r>
          </a:p>
          <a:p>
            <a:r>
              <a:rPr lang="en-US" b="1" dirty="0"/>
              <a:t>Task 2:</a:t>
            </a:r>
            <a:r>
              <a:rPr lang="en-US" dirty="0"/>
              <a:t> Perform thresholding on a grayscale image using a chosen threshold.</a:t>
            </a:r>
          </a:p>
          <a:p>
            <a:r>
              <a:rPr lang="en-US" b="1"/>
              <a:t>Task 3:</a:t>
            </a:r>
            <a:r>
              <a:rPr lang="en-US"/>
              <a:t> Extract bit-planes 1, 4, and 7 of an 8-bit image and analyze visual differences.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550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911</Words>
  <Application>Microsoft Office PowerPoint</Application>
  <PresentationFormat>Widescreen</PresentationFormat>
  <Paragraphs>147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Office Theme</vt:lpstr>
      <vt:lpstr>Lecture Notes – BSCS 5th Semester Course: Digital Image Processing Instructor: Adnan Majeed Topic: Point-Based Image Processing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5. Example in Python (Conceptual)</vt:lpstr>
      <vt:lpstr>PowerPoint Presentation</vt:lpstr>
      <vt:lpstr>6. Summary Table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22</cp:revision>
  <dcterms:created xsi:type="dcterms:W3CDTF">2025-11-11T08:59:13Z</dcterms:created>
  <dcterms:modified xsi:type="dcterms:W3CDTF">2025-11-14T05:19:09Z</dcterms:modified>
</cp:coreProperties>
</file>