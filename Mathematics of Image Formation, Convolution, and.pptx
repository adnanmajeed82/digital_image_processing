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ACC9-AB9F-9BA8-8AAE-E8AA3AD07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CF72-1AAB-BA78-CA99-3CB6FE4CA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2139-F7EC-66C7-AC91-126350AF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D77A5-3719-8FC7-FE1A-ED52B087A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34A84-4CE3-9B92-800F-A2CE97C5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9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0D8A-E393-A185-2336-6F2E5D55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A90BE-D26F-65BB-F44B-F7E33144D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08CFF-4D34-11D0-6EF2-543E80B6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488C7-0E87-CB18-8B2C-2A80E4D8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85FC5-D4A1-D277-29E1-5F9E62EE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6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A4A2-5CD2-64C2-1DC0-F5534BE0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E6045-912D-11EA-FE50-B2CEE111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1C01-CBD7-E7E6-A2B9-0175CDC0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9CBF6-7BD2-64CE-9BEA-03B7AB90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53C1C-87FE-F553-51FC-E4B31606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04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28A0-74A1-9E38-0FDA-BF1BDEC9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766A6-F416-0561-79FD-C52807A54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93478-1D22-D990-866E-3157AFC28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270DF-1C31-7246-5852-8F365FDB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22E33-62EB-4C88-7CEF-6118463D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CD6CE-047F-E9C1-8F97-539C0BAC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38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5EC0C-6562-5A2C-9C99-8466D08D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A79BB-9A98-F3B8-D9D2-6284EE20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4E8C-88C7-7CF5-D499-8F0EED902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C8C54-8920-E032-25E3-91319F46D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2CE35-444A-6511-DC5D-B536C0C32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0FE555-7A04-5350-1D17-C7D4736E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64E07-34A6-A7C3-2E30-31D4779F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318DB-2E4E-6C6B-0495-27A9F9A4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3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F96C-1C7B-DBB7-8421-9CB87A69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234CC-37A8-18B1-E101-9E4F2E1A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42F23-A3C0-7C69-915B-7A5AFCDDF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F33C8-28A3-0747-329E-15C72BF4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7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13124-5E2C-6648-2F5E-C3909768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DBDC7-B2B8-C22B-BD23-C0CC262F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E810A-1325-1A8C-B68C-AEB2897D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0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E359-E868-74AD-DD69-97EDB00A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0C6F-B334-ED62-FB6D-231E7180A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F9952-F840-9ED1-8983-AE83D78AE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336C5-CDEA-9DF9-F630-CDE6047C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C06F4-98AC-5F4E-AAA5-83FC7794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5D6E2-96D8-5AAE-756B-B5B4C8DD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0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5747-1F40-8751-FF3A-D359E293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68777-D63B-0905-99F5-9068BA8D5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7CF57-C031-8187-1D8B-66DDD70DE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0D74B-2826-A0B2-8263-B8A7C4C1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A7E2D-D284-2325-E7B1-D1E4DAAB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7938F-B572-0099-79B6-A59B4AE3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7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2230-FEEE-53AA-8BC8-74BC744A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FB2AA-5122-0783-CCDA-E93CBC874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1DF4B-CE5B-856B-BD17-441C727D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3CCF1-2184-8ECC-E526-40EA20A8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F658-5EB8-65BA-D376-C1000C46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3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B9054-26B1-1925-1F2F-6C5DD720A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13733-D498-54EA-0468-15A68E478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5D9ED-F1F5-B7EF-A0C1-4609D3B8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6D72-0547-4E90-699E-647BE056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F3C21-0057-DF60-DA94-E5512C05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1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39DB6-CDF3-EB9D-1989-B25E8C60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B0BDE-A9B5-13A1-1D8C-598660D0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13B58-3F6C-B420-DBB3-E3664DA5F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35EB1-B34D-443E-B474-A75E8174DCA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FC339-A405-5920-5A5B-C6EBC1E17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5DE01-51B4-1FB1-318A-98768ECEC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52830-59CD-4EC9-8659-2FDE79BB8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3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18AE-E361-6195-ECA6-2E6FDB6FA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13692" cy="1545886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Mathematics of Image Formation, Convolution, and Camera Projection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C2FD9-B8F7-F918-2F00-CFFA910E6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GC University Faisalabad</a:t>
            </a:r>
          </a:p>
          <a:p>
            <a:r>
              <a:rPr lang="en-US" b="1" dirty="0"/>
              <a:t>Course Title:</a:t>
            </a:r>
            <a:r>
              <a:rPr lang="en-US" dirty="0"/>
              <a:t> Digital Image Processing</a:t>
            </a:r>
            <a:br>
              <a:rPr lang="en-US" dirty="0"/>
            </a:br>
            <a:r>
              <a:rPr lang="en-US" b="1" dirty="0"/>
              <a:t>Lecture Topic:</a:t>
            </a:r>
            <a:r>
              <a:rPr lang="en-US" dirty="0"/>
              <a:t> Mathematics of Image Formation, Convolution, and Camera Projection</a:t>
            </a:r>
            <a:br>
              <a:rPr lang="en-US" dirty="0"/>
            </a:br>
            <a:r>
              <a:rPr lang="en-US" b="1" dirty="0"/>
              <a:t>Instructor:</a:t>
            </a:r>
            <a:r>
              <a:rPr lang="en-US" dirty="0"/>
              <a:t> </a:t>
            </a:r>
            <a:r>
              <a:rPr lang="en-US" i="1" dirty="0"/>
              <a:t>Adnan Majeed</a:t>
            </a:r>
            <a:br>
              <a:rPr lang="en-US" dirty="0"/>
            </a:br>
            <a:r>
              <a:rPr lang="en-US" b="1" dirty="0"/>
              <a:t>Semester:</a:t>
            </a:r>
            <a:r>
              <a:rPr lang="en-US" dirty="0"/>
              <a:t> 5th | </a:t>
            </a:r>
            <a:r>
              <a:rPr lang="en-US" b="1" dirty="0"/>
              <a:t>Credit Hours:</a:t>
            </a:r>
            <a:r>
              <a:rPr lang="en-US" dirty="0"/>
              <a:t> 3(2–1)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0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848E-ADBC-0E99-4CBD-7AC3CF60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45F95-C8E6-E183-D094-1F6451E85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Objectives</a:t>
            </a:r>
          </a:p>
          <a:p>
            <a:r>
              <a:rPr lang="en-US" dirty="0"/>
              <a:t>By the end of this lecture, students will be able to:</a:t>
            </a:r>
          </a:p>
          <a:p>
            <a:r>
              <a:rPr lang="en-US" dirty="0"/>
              <a:t>Understand the mathematical foundations of how images are formed.</a:t>
            </a:r>
          </a:p>
          <a:p>
            <a:r>
              <a:rPr lang="en-US" dirty="0"/>
              <a:t>Explain image formation as a physical and geometric process.</a:t>
            </a:r>
          </a:p>
          <a:p>
            <a:r>
              <a:rPr lang="en-US" dirty="0"/>
              <a:t>Describe and apply </a:t>
            </a:r>
            <a:r>
              <a:rPr lang="en-US" b="1" dirty="0"/>
              <a:t>convolution</a:t>
            </a:r>
            <a:r>
              <a:rPr lang="en-US" dirty="0"/>
              <a:t> for image filtering and feature detection.</a:t>
            </a:r>
          </a:p>
          <a:p>
            <a:r>
              <a:rPr lang="en-US" dirty="0"/>
              <a:t>Understand </a:t>
            </a:r>
            <a:r>
              <a:rPr lang="en-US" b="1" dirty="0"/>
              <a:t>camera projection models</a:t>
            </a:r>
            <a:r>
              <a:rPr lang="en-US" dirty="0"/>
              <a:t> and their role in converting 3D scenes into 2D images.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24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1EB5-3910-A46F-A87D-21FF905F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1A2C3-17B7-BD93-3392-E3B665296C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Mathematics of Image Formation</a:t>
                </a:r>
              </a:p>
              <a:p>
                <a:r>
                  <a:rPr lang="en-US" b="1" dirty="0"/>
                  <a:t>1.1 Overview</a:t>
                </a:r>
              </a:p>
              <a:p>
                <a:r>
                  <a:rPr lang="en-US" dirty="0"/>
                  <a:t>Image formation is the process of mapping a </a:t>
                </a:r>
                <a:r>
                  <a:rPr lang="en-US" b="1" dirty="0"/>
                  <a:t>3D scene</a:t>
                </a:r>
                <a:r>
                  <a:rPr lang="en-US" dirty="0"/>
                  <a:t> into a </a:t>
                </a:r>
                <a:r>
                  <a:rPr lang="en-US" b="1" dirty="0"/>
                  <a:t>2D image plane</a:t>
                </a:r>
                <a:r>
                  <a:rPr lang="en-US" dirty="0"/>
                  <a:t> using light, lenses, and sensors.</a:t>
                </a:r>
              </a:p>
              <a:p>
                <a:r>
                  <a:rPr lang="en-US" b="1" dirty="0"/>
                  <a:t>1.2 Basic Image Formation Model</a:t>
                </a:r>
              </a:p>
              <a:p>
                <a:r>
                  <a:rPr lang="en-US" dirty="0"/>
                  <a:t>An image can be modeled as a product of: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𝑖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⋅</m:t>
                    </m:r>
                    <m:r>
                      <a:rPr lang="ar-AE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1A2C3-17B7-BD93-3392-E3B665296C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858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06E8-2651-4E2E-CBBA-24870C65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9804E-3768-5143-F350-C48B504CCF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b="1" dirty="0"/>
                  <a:t>Illumination component</a:t>
                </a:r>
                <a:r>
                  <a:rPr lang="en-US" dirty="0"/>
                  <a:t> (light incident on the scene)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b="1" dirty="0"/>
                  <a:t>Reflectance component</a:t>
                </a:r>
                <a:r>
                  <a:rPr lang="en-US" dirty="0"/>
                  <a:t> (fraction of light reflected)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b="1" dirty="0"/>
                  <a:t>Resulting image intensity</a:t>
                </a:r>
                <a:endParaRPr lang="en-US" dirty="0"/>
              </a:p>
              <a:p>
                <a:r>
                  <a:rPr lang="en-US" b="1" dirty="0"/>
                  <a:t>Intensity Range:</a:t>
                </a:r>
              </a:p>
              <a:p>
                <a14:m>
                  <m:oMath xmlns:m="http://schemas.openxmlformats.org/officeDocument/2006/math">
                    <m:r>
                      <a:rPr lang="en-US"/>
                      <m:t>0</m:t>
                    </m:r>
                    <m:r>
                      <a:rPr lang="en-US"/>
                      <m:t>&lt;</m:t>
                    </m:r>
                    <m:r>
                      <a:rPr lang="en-US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&lt;</m:t>
                    </m:r>
                    <m:r>
                      <a:rPr lang="ar-AE"/>
                      <m:t>1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/>
                      <m:t>0</m:t>
                    </m:r>
                    <m:r>
                      <a:rPr lang="ar-AE"/>
                      <m:t>&lt;</m:t>
                    </m:r>
                    <m:r>
                      <a:rPr lang="ar-AE" i="1"/>
                      <m:t>𝑖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&lt;</m:t>
                    </m:r>
                    <m:r>
                      <a:rPr lang="ar-AE"/>
                      <m:t>∞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9804E-3768-5143-F350-C48B504CC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81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9353-79F1-695A-ADF9-04705551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C2882-D20E-5AFE-81D4-1EE0EDF249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Image Formation as a Function of Light</a:t>
                </a:r>
              </a:p>
              <a:p>
                <a:r>
                  <a:rPr lang="en-US" dirty="0"/>
                  <a:t>Light from a point source can be modeled as: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𝐸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𝐼</m:t>
                        </m:r>
                      </m:num>
                      <m:den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𝑟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𝐸</m:t>
                    </m:r>
                  </m:oMath>
                </a14:m>
                <a:r>
                  <a:rPr lang="en-US" dirty="0"/>
                  <a:t>= irradiance (power per unit area),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𝐼</m:t>
                    </m:r>
                  </m:oMath>
                </a14:m>
                <a:r>
                  <a:rPr lang="en-US" dirty="0"/>
                  <a:t>= intensity of the source,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𝑟</m:t>
                    </m:r>
                  </m:oMath>
                </a14:m>
                <a:r>
                  <a:rPr lang="en-US" dirty="0"/>
                  <a:t>= distance from the source to the surface point.</a:t>
                </a:r>
              </a:p>
              <a:p>
                <a:r>
                  <a:rPr lang="en-US" dirty="0"/>
                  <a:t>Thus, brightness depends on both </a:t>
                </a:r>
                <a:r>
                  <a:rPr lang="en-US" b="1" dirty="0"/>
                  <a:t>distance</a:t>
                </a:r>
                <a:r>
                  <a:rPr lang="en-US" dirty="0"/>
                  <a:t> and </a:t>
                </a:r>
                <a:r>
                  <a:rPr lang="en-US" b="1" dirty="0"/>
                  <a:t>illumination direction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C2882-D20E-5AFE-81D4-1EE0EDF24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45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61AD-E0FC-102E-7610-5961DE6F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39376A-3ADD-2E7E-572B-C0B7061708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Geometric Perspective</a:t>
                </a:r>
              </a:p>
              <a:p>
                <a:r>
                  <a:rPr lang="en-US" dirty="0"/>
                  <a:t>In digital image formation:</a:t>
                </a:r>
              </a:p>
              <a:p>
                <a:r>
                  <a:rPr lang="en-US" dirty="0"/>
                  <a:t>The world is 3D (X, Y, Z).</a:t>
                </a:r>
              </a:p>
              <a:p>
                <a:r>
                  <a:rPr lang="en-US" dirty="0"/>
                  <a:t>The image sensor records a 2D projection (x, y).</a:t>
                </a:r>
              </a:p>
              <a:p>
                <a:r>
                  <a:rPr lang="en-US" dirty="0"/>
                  <a:t>The mapping is </a:t>
                </a:r>
                <a:r>
                  <a:rPr lang="en-US" b="1" dirty="0"/>
                  <a:t>projective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𝑓𝑋</m:t>
                        </m:r>
                      </m:num>
                      <m:den>
                        <m:r>
                          <a:rPr lang="ar-AE" i="1"/>
                          <m:t>𝑍</m:t>
                        </m:r>
                      </m:den>
                    </m:f>
                    <m:r>
                      <a:rPr lang="ar-AE"/>
                      <m:t>, </m:t>
                    </m:r>
                    <m:r>
                      <a:rPr lang="ar-AE" i="1"/>
                      <m:t>𝑦</m:t>
                    </m:r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𝑓𝑌</m:t>
                        </m:r>
                      </m:num>
                      <m:den>
                        <m:r>
                          <a:rPr lang="ar-AE" i="1"/>
                          <m:t>𝑍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</m:oMath>
                </a14:m>
                <a:r>
                  <a:rPr lang="en-US" dirty="0"/>
                  <a:t>: focal length of the camera (distance from pinhole to image plane)</a:t>
                </a:r>
              </a:p>
              <a:p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𝑋</m:t>
                        </m:r>
                      </m:e>
                      <m:e>
                        <m:r>
                          <a:rPr lang="ar-AE" i="1"/>
                          <m:t>𝑌</m:t>
                        </m:r>
                      </m:e>
                      <m:e>
                        <m:r>
                          <a:rPr lang="ar-AE" i="1"/>
                          <m:t>𝑍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world coordinates</a:t>
                </a:r>
              </a:p>
              <a:p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image coordinates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39376A-3ADD-2E7E-572B-C0B7061708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386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016E-51F6-E00A-9ACD-D148E93B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3C63B-FC03-FF89-52DF-5548155F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Convolution in Image Processing</a:t>
            </a:r>
          </a:p>
          <a:p>
            <a:r>
              <a:rPr lang="en-US" b="1" dirty="0"/>
              <a:t>2.1 Definition</a:t>
            </a:r>
          </a:p>
          <a:p>
            <a:r>
              <a:rPr lang="en-US" b="1" dirty="0"/>
              <a:t>Convolution</a:t>
            </a:r>
            <a:r>
              <a:rPr lang="en-US" dirty="0"/>
              <a:t> is a mathematical operation that combines two functions (image and filter/kernel) to produce a third function expressing how the shape of one is modified by the other.</a:t>
            </a:r>
          </a:p>
          <a:p>
            <a:r>
              <a:rPr lang="en-US" dirty="0"/>
              <a:t>In image processing, convolution is used for:</a:t>
            </a:r>
          </a:p>
          <a:p>
            <a:r>
              <a:rPr lang="en-US" dirty="0"/>
              <a:t>Image filtering</a:t>
            </a:r>
          </a:p>
          <a:p>
            <a:r>
              <a:rPr lang="en-US" dirty="0"/>
              <a:t>Edge detection</a:t>
            </a:r>
          </a:p>
          <a:p>
            <a:r>
              <a:rPr lang="en-US" dirty="0"/>
              <a:t>Blurring/sharpening</a:t>
            </a:r>
          </a:p>
          <a:p>
            <a:r>
              <a:rPr lang="en-US" dirty="0"/>
              <a:t>Noise reduction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72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197A-DD50-401A-9BDA-0BD07ED0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563AEE-819F-FEF6-6393-1233B92BE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Mathematical Formula</a:t>
                </a:r>
              </a:p>
              <a:p>
                <a:r>
                  <a:rPr lang="en-US" dirty="0"/>
                  <a:t>For a discrete 2D image </a:t>
                </a: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and kernel </a:t>
                </a:r>
                <a14:m>
                  <m:oMath xmlns:m="http://schemas.openxmlformats.org/officeDocument/2006/math">
                    <m:r>
                      <a:rPr lang="en-US" i="1"/>
                      <m:t>h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𝑔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US" dirty="0"/>
                  <a:t>output image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US" dirty="0"/>
                  <a:t>input image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h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US" dirty="0"/>
                  <a:t>filter kernel or mask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563AEE-819F-FEF6-6393-1233B92BE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32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6C7C-3E8D-2DD9-A7E6-A9B7DE03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D110B1-A680-CACD-FD98-280A3EEAB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Convolution Example</a:t>
                </a:r>
              </a:p>
              <a:p>
                <a:r>
                  <a:rPr lang="en-US" dirty="0"/>
                  <a:t>For example, a </a:t>
                </a:r>
                <a:r>
                  <a:rPr lang="en-US" b="1" dirty="0"/>
                  <a:t>3×3 averaging filter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h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9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When this kernel is convolved with an image, each pixel becomes the </a:t>
                </a:r>
                <a:r>
                  <a:rPr lang="en-US" b="1" dirty="0"/>
                  <a:t>average</a:t>
                </a:r>
                <a:r>
                  <a:rPr lang="en-US" dirty="0"/>
                  <a:t> of its 3×3 neighborhood — producing a </a:t>
                </a:r>
                <a:r>
                  <a:rPr lang="en-US" b="1" dirty="0"/>
                  <a:t>smoothing</a:t>
                </a:r>
                <a:r>
                  <a:rPr lang="en-US" dirty="0"/>
                  <a:t> effect.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D110B1-A680-CACD-FD98-280A3EEAB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7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CE94-96AD-36B6-947B-3C602123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Properties of Convolution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F71A6A-DD88-1F9F-2E47-869634A2D6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920690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12801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52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Commutative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 f * h = h * f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757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Associative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( f * (g * h) = (f * g) * h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354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Distributive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( f * (g + h) = f * g + f * h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018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Shift Invariance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Convolution does not depend on absolute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654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8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B551-4E11-D5E4-DEB8-CD282223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in Python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EE47-F4FD-21BC-79DD-DDE7F79D2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import cv2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Read grayscale image</a:t>
            </a:r>
          </a:p>
          <a:p>
            <a:pPr marL="0" indent="0">
              <a:buNone/>
            </a:pPr>
            <a:r>
              <a:rPr lang="en-US" dirty="0" err="1"/>
              <a:t>img</a:t>
            </a:r>
            <a:r>
              <a:rPr lang="en-US" dirty="0"/>
              <a:t> = cv2.imread('image.jpg', 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Define 3x3 blur kernel</a:t>
            </a:r>
          </a:p>
          <a:p>
            <a:pPr marL="0" indent="0">
              <a:buNone/>
            </a:pPr>
            <a:r>
              <a:rPr lang="en-US" dirty="0"/>
              <a:t>kernel = </a:t>
            </a:r>
            <a:r>
              <a:rPr lang="en-US" dirty="0" err="1"/>
              <a:t>np.ones</a:t>
            </a:r>
            <a:r>
              <a:rPr lang="en-US" dirty="0"/>
              <a:t>((3,3), np.float32) / 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Apply convolution</a:t>
            </a:r>
          </a:p>
          <a:p>
            <a:pPr marL="0" indent="0">
              <a:buNone/>
            </a:pPr>
            <a:r>
              <a:rPr lang="en-US" dirty="0"/>
              <a:t>output = cv2.filter2D(</a:t>
            </a:r>
            <a:r>
              <a:rPr lang="en-US" dirty="0" err="1"/>
              <a:t>img</a:t>
            </a:r>
            <a:r>
              <a:rPr lang="en-US" dirty="0"/>
              <a:t>, -1, kernel)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plt.subplot</a:t>
            </a:r>
            <a:r>
              <a:rPr lang="en-US" dirty="0"/>
              <a:t>(121), </a:t>
            </a:r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</a:t>
            </a:r>
            <a:r>
              <a:rPr lang="en-US" dirty="0" err="1"/>
              <a:t>cmap</a:t>
            </a:r>
            <a:r>
              <a:rPr lang="en-US" dirty="0"/>
              <a:t>='gray'), </a:t>
            </a:r>
            <a:r>
              <a:rPr lang="en-US" dirty="0" err="1"/>
              <a:t>plt.title</a:t>
            </a:r>
            <a:r>
              <a:rPr lang="en-US" dirty="0"/>
              <a:t>('Original')</a:t>
            </a:r>
          </a:p>
          <a:p>
            <a:pPr marL="0" indent="0">
              <a:buNone/>
            </a:pPr>
            <a:r>
              <a:rPr lang="en-US" dirty="0" err="1"/>
              <a:t>plt.subplot</a:t>
            </a:r>
            <a:r>
              <a:rPr lang="en-US" dirty="0"/>
              <a:t>(122), </a:t>
            </a:r>
            <a:r>
              <a:rPr lang="en-US" dirty="0" err="1"/>
              <a:t>plt.imshow</a:t>
            </a:r>
            <a:r>
              <a:rPr lang="en-US" dirty="0"/>
              <a:t>(output, </a:t>
            </a:r>
            <a:r>
              <a:rPr lang="en-US" dirty="0" err="1"/>
              <a:t>cmap</a:t>
            </a:r>
            <a:r>
              <a:rPr lang="en-US" dirty="0"/>
              <a:t>='gray'), </a:t>
            </a:r>
            <a:r>
              <a:rPr lang="en-US" dirty="0" err="1"/>
              <a:t>plt.title</a:t>
            </a:r>
            <a:r>
              <a:rPr lang="en-US" dirty="0"/>
              <a:t>('Convolved (Blurred)')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4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1256-11E8-1861-8FCF-216006B4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Projection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D658-8B52-F4E8-026C-1A5147DB1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3.1 Overview</a:t>
            </a:r>
          </a:p>
          <a:p>
            <a:r>
              <a:rPr lang="en-US" dirty="0"/>
              <a:t>The </a:t>
            </a:r>
            <a:r>
              <a:rPr lang="en-US" b="1" dirty="0"/>
              <a:t>camera projection</a:t>
            </a:r>
            <a:r>
              <a:rPr lang="en-US" dirty="0"/>
              <a:t> model describes how 3D points in the real world are projected onto a 2D image plane. It is a cornerstone of </a:t>
            </a:r>
            <a:r>
              <a:rPr lang="en-US" b="1" dirty="0"/>
              <a:t>computer vision</a:t>
            </a:r>
            <a:r>
              <a:rPr lang="en-US" dirty="0"/>
              <a:t>, </a:t>
            </a:r>
            <a:r>
              <a:rPr lang="en-US" b="1" dirty="0"/>
              <a:t>3D reconstruction</a:t>
            </a:r>
            <a:r>
              <a:rPr lang="en-US" dirty="0"/>
              <a:t>, and </a:t>
            </a:r>
            <a:r>
              <a:rPr lang="en-US" b="1" dirty="0"/>
              <a:t>augmented reality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254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A72D-4263-EBC2-05A8-ABD0896D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Pinhole Camera Model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D926EF-7260-73FD-F573-4241D7B2B2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simplest and most commonly used model.</a:t>
                </a:r>
              </a:p>
              <a:p>
                <a:r>
                  <a:rPr lang="en-US" b="1" dirty="0"/>
                  <a:t>Geometry:</a:t>
                </a:r>
              </a:p>
              <a:p>
                <a:r>
                  <a:rPr lang="en-US" dirty="0"/>
                  <a:t>A light ray passes through a small </a:t>
                </a:r>
                <a:r>
                  <a:rPr lang="en-US" b="1" dirty="0"/>
                  <a:t>pinhole (O)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3D point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𝑋</m:t>
                        </m:r>
                      </m:e>
                      <m:e>
                        <m:r>
                          <a:rPr lang="ar-AE" i="1"/>
                          <m:t>𝑌</m:t>
                        </m:r>
                      </m:e>
                      <m:e>
                        <m:r>
                          <a:rPr lang="ar-AE" i="1"/>
                          <m:t>𝑍</m:t>
                        </m:r>
                      </m:e>
                    </m:d>
                  </m:oMath>
                </a14:m>
                <a:r>
                  <a:rPr lang="en-US" dirty="0"/>
                  <a:t>projects onto a 2D point </a:t>
                </a:r>
                <a14:m>
                  <m:oMath xmlns:m="http://schemas.openxmlformats.org/officeDocument/2006/math">
                    <m:r>
                      <a:rPr lang="en-US" i="1"/>
                      <m:t>𝑝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on the image plane.</a:t>
                </a:r>
              </a:p>
              <a:p>
                <a:r>
                  <a:rPr lang="en-US" b="1" dirty="0"/>
                  <a:t>Equations: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𝑓𝑋</m:t>
                        </m:r>
                      </m:num>
                      <m:den>
                        <m:r>
                          <a:rPr lang="ar-AE" i="1"/>
                          <m:t>𝑍</m:t>
                        </m:r>
                      </m:den>
                    </m:f>
                    <m:r>
                      <a:rPr lang="ar-AE"/>
                      <m:t>, </m:t>
                    </m:r>
                    <m:r>
                      <a:rPr lang="ar-AE" i="1"/>
                      <m:t>𝑦</m:t>
                    </m:r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𝑓𝑌</m:t>
                        </m:r>
                      </m:num>
                      <m:den>
                        <m:r>
                          <a:rPr lang="ar-AE" i="1"/>
                          <m:t>𝑍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</m:oMath>
                </a14:m>
                <a:r>
                  <a:rPr lang="en-US" dirty="0"/>
                  <a:t>: focal length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𝑍</m:t>
                    </m:r>
                  </m:oMath>
                </a14:m>
                <a:r>
                  <a:rPr lang="en-US" dirty="0"/>
                  <a:t>: distance from camera to object (depth)</a:t>
                </a:r>
              </a:p>
              <a:p>
                <a:r>
                  <a:rPr lang="en-US" dirty="0"/>
                  <a:t>👉 This is known as </a:t>
                </a:r>
                <a:r>
                  <a:rPr lang="en-US" b="1" dirty="0"/>
                  <a:t>perspective projection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D926EF-7260-73FD-F573-4241D7B2B2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928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98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1987-9C81-078D-D71B-4F50AA2C7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C76E8-F4F9-CFBA-B339-1911F4C1D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Perspective Projection Matrix</a:t>
                </a:r>
              </a:p>
              <a:p>
                <a:r>
                  <a:rPr lang="en-US" dirty="0"/>
                  <a:t>In homogeneous coordinates: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/>
                            </m:ctrlPr>
                          </m:mPr>
                          <m:mr>
                            <m:e>
                              <m:r>
                                <a:rPr lang="ar-AE" i="1"/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ar-AE" i="1"/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 i="1"/>
                          <m:t>𝑍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 i="1"/>
                                <m:t>𝑓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 i="1"/>
                                <m:t>𝑓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 i="1"/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lang="ar-AE" i="1"/>
                                <m:t>𝑌</m:t>
                              </m:r>
                            </m:e>
                          </m:mr>
                          <m:mr>
                            <m:e>
                              <m:r>
                                <a:rPr lang="ar-AE" i="1"/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C76E8-F4F9-CFBA-B339-1911F4C1D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328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FB8D5-FA6F-80A2-304B-96A9AD6F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77835-56AF-98A9-A325-06BDE4A7DE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Orthographic Projection</a:t>
                </a:r>
              </a:p>
              <a:p>
                <a:r>
                  <a:rPr lang="en-US" dirty="0"/>
                  <a:t>Used when the depth variation is small (e.g., scanning documents or distant objects).</a:t>
                </a:r>
              </a:p>
              <a:p>
                <a:r>
                  <a:rPr lang="en-US" dirty="0"/>
                  <a:t>Equations: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=</m:t>
                    </m:r>
                    <m:r>
                      <a:rPr lang="en-US" i="1"/>
                      <m:t>𝑋</m:t>
                    </m:r>
                    <m:r>
                      <a:rPr lang="en-US"/>
                      <m:t>, </m:t>
                    </m:r>
                    <m:r>
                      <a:rPr lang="en-US" i="1"/>
                      <m:t>𝑦</m:t>
                    </m:r>
                    <m:r>
                      <a:rPr lang="en-US"/>
                      <m:t>=</m:t>
                    </m:r>
                    <m:r>
                      <a:rPr lang="en-US" i="1"/>
                      <m:t>𝑌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It ignores perspective effects — all rays are parallel to the camera axis.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77835-56AF-98A9-A325-06BDE4A7DE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667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D382-1995-98C5-61CA-D6746450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D5184-F1E5-FE19-E264-C01D840ED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Weak Perspective Projection</a:t>
                </a:r>
              </a:p>
              <a:p>
                <a:r>
                  <a:rPr lang="en-US" dirty="0"/>
                  <a:t>An approximation of perspective projection assuming </a:t>
                </a:r>
                <a14:m>
                  <m:oMath xmlns:m="http://schemas.openxmlformats.org/officeDocument/2006/math">
                    <m:r>
                      <a:rPr lang="en-US" i="1"/>
                      <m:t>𝑍</m:t>
                    </m:r>
                    <m:r>
                      <a:rPr lang="en-US"/>
                      <m:t>≈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ar-AE" i="1"/>
                      <m:t>𝑥</m:t>
                    </m:r>
                    <m:r>
                      <a:rPr lang="ar-AE"/>
                      <m:t>=</m:t>
                    </m:r>
                    <m:r>
                      <a:rPr lang="ar-AE" i="1"/>
                      <m:t>𝑠𝑋</m:t>
                    </m:r>
                    <m:r>
                      <a:rPr lang="ar-AE"/>
                      <m:t>, </m:t>
                    </m:r>
                    <m:r>
                      <a:rPr lang="ar-AE" i="1"/>
                      <m:t>𝑦</m:t>
                    </m:r>
                    <m:r>
                      <a:rPr lang="ar-AE"/>
                      <m:t>=</m:t>
                    </m:r>
                    <m:r>
                      <a:rPr lang="ar-AE" i="1"/>
                      <m:t>𝑠𝑌</m:t>
                    </m:r>
                  </m:oMath>
                </a14:m>
                <a:endParaRPr lang="ar-AE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/>
                      <m:t>𝑠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𝑍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is a constant scale factor.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D5184-F1E5-FE19-E264-C01D840ED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974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535B-7C45-C124-4007-C4A270C4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5A6E12-B3B9-8EF8-BA17-FFEFA32944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132614"/>
          <a:ext cx="10515600" cy="1737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2392068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781886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499047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7068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Perspective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703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Orthographic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 x=X, y=Y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2D scanning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11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Perspective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 x=\frac{fX}{Z}, y=\frac{fY}{Z}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3D scenes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299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Weak Perspective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 x=sX, y=sY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267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137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F8CE-F077-ACC3-5952-2617BC4F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06A6B-D62A-E21F-EF9C-F5706D8F0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Camera Coordinate Systems</a:t>
            </a:r>
          </a:p>
          <a:p>
            <a:r>
              <a:rPr lang="en-US" b="1" dirty="0"/>
              <a:t>World Coordinates (X, Y, Z)</a:t>
            </a:r>
            <a:r>
              <a:rPr lang="en-US" dirty="0"/>
              <a:t> – Real-world points</a:t>
            </a:r>
          </a:p>
          <a:p>
            <a:r>
              <a:rPr lang="en-US" b="1" dirty="0"/>
              <a:t>Camera Coordinates (</a:t>
            </a:r>
            <a:r>
              <a:rPr lang="en-US" b="1" dirty="0" err="1"/>
              <a:t>Xc</a:t>
            </a:r>
            <a:r>
              <a:rPr lang="en-US" b="1" dirty="0"/>
              <a:t>, </a:t>
            </a:r>
            <a:r>
              <a:rPr lang="en-US" b="1" dirty="0" err="1"/>
              <a:t>Yc</a:t>
            </a:r>
            <a:r>
              <a:rPr lang="en-US" b="1" dirty="0"/>
              <a:t>, </a:t>
            </a:r>
            <a:r>
              <a:rPr lang="en-US" b="1" dirty="0" err="1"/>
              <a:t>Zc</a:t>
            </a:r>
            <a:r>
              <a:rPr lang="en-US" b="1" dirty="0"/>
              <a:t>)</a:t>
            </a:r>
            <a:r>
              <a:rPr lang="en-US" dirty="0"/>
              <a:t> – After translation &amp; rotation</a:t>
            </a:r>
          </a:p>
          <a:p>
            <a:r>
              <a:rPr lang="en-US" b="1" dirty="0"/>
              <a:t>Image Coordinates (x, y)</a:t>
            </a:r>
            <a:r>
              <a:rPr lang="en-US" dirty="0"/>
              <a:t> – Projection on the sensor plane</a:t>
            </a:r>
          </a:p>
          <a:p>
            <a:r>
              <a:rPr lang="en-US" b="1" dirty="0"/>
              <a:t>Pixel Coordinates (u, v)</a:t>
            </a:r>
            <a:r>
              <a:rPr lang="en-US" dirty="0"/>
              <a:t> – Scaled using pixel dimensions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2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8BEF-840C-6B5B-A32E-2A744965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72A484-6FFE-0EBE-B759-60BB4DFB6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Transformation chain:</a:t>
                </a:r>
              </a:p>
              <a:p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𝑋</m:t>
                        </m:r>
                      </m:e>
                      <m:e>
                        <m:r>
                          <a:rPr lang="ar-AE" i="1"/>
                          <m:t>𝑌</m:t>
                        </m:r>
                      </m:e>
                      <m:e>
                        <m:r>
                          <a:rPr lang="ar-AE" i="1"/>
                          <m:t>𝑍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ar-AE" i="1"/>
                        </m:ctrlPr>
                      </m:groupChrPr>
                      <m:e>
                        <m:box>
                          <m:boxPr>
                            <m:ctrlPr>
                              <a:rPr lang="ar-AE" i="1"/>
                            </m:ctrlPr>
                          </m:boxPr>
                          <m:e>
                            <m:r>
                              <a:rPr lang="ar-AE" i="1"/>
                              <m:t>𝐸𝑥𝑡𝑟𝑖𝑛𝑠𝑖𝑐</m:t>
                            </m:r>
                          </m:e>
                        </m:box>
                      </m:e>
                    </m:groupCh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𝑋</m:t>
                            </m:r>
                          </m:e>
                          <m:sub>
                            <m:r>
                              <a:rPr lang="ar-AE" i="1"/>
                              <m:t>𝑐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𝑌</m:t>
                            </m:r>
                          </m:e>
                          <m:sub>
                            <m:r>
                              <a:rPr lang="ar-AE" i="1"/>
                              <m:t>𝑐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𝑍</m:t>
                            </m:r>
                          </m:e>
                          <m:sub>
                            <m:r>
                              <a:rPr lang="ar-AE" i="1"/>
                              <m:t>𝑐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ar-AE" i="1"/>
                        </m:ctrlPr>
                      </m:groupChrPr>
                      <m:e>
                        <m:box>
                          <m:boxPr>
                            <m:ctrlPr>
                              <a:rPr lang="ar-AE" i="1"/>
                            </m:ctrlPr>
                          </m:boxPr>
                          <m:e>
                            <m:r>
                              <a:rPr lang="ar-AE" i="1"/>
                              <m:t>𝑃𝑟𝑜𝑗𝑒𝑐𝑡𝑖𝑜𝑛</m:t>
                            </m:r>
                          </m:e>
                        </m:box>
                      </m:e>
                    </m:groupCh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ar-AE" i="1"/>
                        </m:ctrlPr>
                      </m:groupChrPr>
                      <m:e>
                        <m:box>
                          <m:boxPr>
                            <m:ctrlPr>
                              <a:rPr lang="ar-AE" i="1"/>
                            </m:ctrlPr>
                          </m:boxPr>
                          <m:e>
                            <m:r>
                              <a:rPr lang="ar-AE" i="1"/>
                              <m:t>𝐼𝑛𝑡𝑟𝑖𝑛𝑠𝑖𝑐</m:t>
                            </m:r>
                          </m:e>
                        </m:box>
                      </m:e>
                    </m:groupCh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72A484-6FFE-0EBE-B759-60BB4DFB6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511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A967-10D4-2A2D-37A5-70BA8B0F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DA29A9-5381-4C36-46D7-55CCDE1192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92534"/>
          <a:ext cx="10515600" cy="30175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476770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68916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9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Describes how light, reflection, and geometry produce an image.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602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Mathematical operation combining image and kernel for filtering.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29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 Projection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Describes mapping of 3D world onto 2D image plane.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965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Pinhole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Simplest physical model of image capture using perspective projection.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594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Orthographic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Simplified projection ignoring depth effects.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203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692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C0002-EF33-49FF-5F76-78A8EC47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2F988-39AF-F31E-E464-779F8900A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Review Questions</a:t>
            </a:r>
          </a:p>
          <a:p>
            <a:r>
              <a:rPr lang="en-US" dirty="0"/>
              <a:t>Explain the illumination and reflectance model in image formation.</a:t>
            </a:r>
          </a:p>
          <a:p>
            <a:r>
              <a:rPr lang="en-US" dirty="0"/>
              <a:t>Derive the pinhole camera projection equations.</a:t>
            </a:r>
          </a:p>
          <a:p>
            <a:r>
              <a:rPr lang="en-US" dirty="0"/>
              <a:t>Define convolution and explain its role in image processing.</a:t>
            </a:r>
          </a:p>
          <a:p>
            <a:r>
              <a:rPr lang="en-US" dirty="0"/>
              <a:t>Differentiate between orthographic and perspective projections.</a:t>
            </a:r>
          </a:p>
          <a:p>
            <a:r>
              <a:rPr lang="en-US" dirty="0"/>
              <a:t>Write the 2D discrete convolution formula and explain each term.</a:t>
            </a:r>
          </a:p>
          <a:p>
            <a:r>
              <a:rPr lang="en-US" dirty="0"/>
              <a:t>How does focal length affect image projection?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697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C6EA-0290-E2CB-719A-C6228A9D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7B057-8EEF-957C-7F28-93A2C63D4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Recommended Readings</a:t>
            </a:r>
          </a:p>
          <a:p>
            <a:r>
              <a:rPr lang="en-US" dirty="0"/>
              <a:t>Rafael C. Gonzalez &amp; Richard E. Woods, </a:t>
            </a:r>
            <a:r>
              <a:rPr lang="en-US" i="1" dirty="0"/>
              <a:t>Digital Image Processing</a:t>
            </a:r>
            <a:r>
              <a:rPr lang="en-US" dirty="0"/>
              <a:t>, 4th Edition, Pearson.</a:t>
            </a:r>
          </a:p>
          <a:p>
            <a:r>
              <a:rPr lang="en-US" dirty="0"/>
              <a:t>Anil K. Jain, </a:t>
            </a:r>
            <a:r>
              <a:rPr lang="en-US" i="1" dirty="0"/>
              <a:t>Fundamentals of Digital Image Processing</a:t>
            </a:r>
            <a:r>
              <a:rPr lang="en-US" dirty="0"/>
              <a:t>, Prentice-Hall.</a:t>
            </a:r>
          </a:p>
          <a:p>
            <a:r>
              <a:rPr lang="en-US" dirty="0" err="1"/>
              <a:t>Szeliski</a:t>
            </a:r>
            <a:r>
              <a:rPr lang="en-US" dirty="0"/>
              <a:t>, R., </a:t>
            </a:r>
            <a:r>
              <a:rPr lang="en-US" i="1" dirty="0"/>
              <a:t>Computer Vision: Algorithms and Applications</a:t>
            </a:r>
            <a:r>
              <a:rPr lang="en-US" dirty="0"/>
              <a:t>, Springer.</a:t>
            </a:r>
          </a:p>
          <a:p>
            <a:r>
              <a:rPr lang="en-US" dirty="0"/>
              <a:t>Gonzalez &amp; Woods, </a:t>
            </a:r>
            <a:r>
              <a:rPr lang="en-US" i="1" dirty="0"/>
              <a:t>DIP Laboratory Manual</a:t>
            </a:r>
            <a:r>
              <a:rPr lang="en-US" dirty="0"/>
              <a:t> – GCUF Computer Science Department.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85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1137</Words>
  <Application>Microsoft Office PowerPoint</Application>
  <PresentationFormat>Widescreen</PresentationFormat>
  <Paragraphs>161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Mathematics of Image Formation, Convolution, and Camera Projection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Properties of Convolution</vt:lpstr>
      <vt:lpstr>Convolution in Python (Example)</vt:lpstr>
      <vt:lpstr>Camera Projection Models</vt:lpstr>
      <vt:lpstr>Pinhole Camera Model </vt:lpstr>
      <vt:lpstr>PowerPoint Presentation</vt:lpstr>
      <vt:lpstr>PowerPoint Presentation</vt:lpstr>
      <vt:lpstr>PowerPoint Presentation</vt:lpstr>
      <vt:lpstr>Comparison Table</vt:lpstr>
      <vt:lpstr>PowerPoint Presentation</vt:lpstr>
      <vt:lpstr>PowerPoint Presentation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30</cp:revision>
  <dcterms:created xsi:type="dcterms:W3CDTF">2025-11-05T08:42:46Z</dcterms:created>
  <dcterms:modified xsi:type="dcterms:W3CDTF">2025-11-05T08:48:23Z</dcterms:modified>
</cp:coreProperties>
</file>